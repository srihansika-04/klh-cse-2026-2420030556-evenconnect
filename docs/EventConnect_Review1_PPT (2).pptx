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6" r:id="rId9"/>
    <p:sldId id="267" r:id="rId10"/>
    <p:sldId id="268" r:id="rId11"/>
    <p:sldId id="262" r:id="rId12"/>
    <p:sldId id="263" r:id="rId13"/>
    <p:sldId id="264" r:id="rId14"/>
    <p:sldId id="269" r:id="rId15"/>
    <p:sldId id="265" r:id="rId16"/>
  </p:sldIdLst>
  <p:sldSz cx="18288000" cy="10287000"/>
  <p:notesSz cx="6858000" cy="9144000"/>
  <p:embeddedFontLst>
    <p:embeddedFont>
      <p:font typeface="Cantora One" panose="020B0604020202020204" charset="0"/>
      <p:regular r:id="rId17"/>
    </p:embeddedFont>
    <p:embeddedFont>
      <p:font typeface="Nunito" pitchFamily="2" charset="0"/>
      <p:regular r:id="rId18"/>
    </p:embeddedFont>
    <p:embeddedFont>
      <p:font typeface="Nunito Bold" charset="0"/>
      <p:regular r:id="rId19"/>
    </p:embeddedFont>
    <p:embeddedFont>
      <p:font typeface="Open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4D4239-B65D-4CA6-959D-4F36252DB6D8}" v="5" dt="2026-08-19T05:44:03.1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Hansika Saraf" userId="853678b18a0aa9d5" providerId="LiveId" clId="{D173137B-D079-4E81-8106-2102DAC5600E}"/>
    <pc:docChg chg="undo custSel addSld modSld">
      <pc:chgData name="Sri Hansika Saraf" userId="853678b18a0aa9d5" providerId="LiveId" clId="{D173137B-D079-4E81-8106-2102DAC5600E}" dt="2026-08-19T05:47:30.433" v="191" actId="1076"/>
      <pc:docMkLst>
        <pc:docMk/>
      </pc:docMkLst>
      <pc:sldChg chg="modSp mod">
        <pc:chgData name="Sri Hansika Saraf" userId="853678b18a0aa9d5" providerId="LiveId" clId="{D173137B-D079-4E81-8106-2102DAC5600E}" dt="2026-08-19T05:03:10.528" v="1" actId="20577"/>
        <pc:sldMkLst>
          <pc:docMk/>
          <pc:sldMk cId="0" sldId="256"/>
        </pc:sldMkLst>
        <pc:spChg chg="mod">
          <ac:chgData name="Sri Hansika Saraf" userId="853678b18a0aa9d5" providerId="LiveId" clId="{D173137B-D079-4E81-8106-2102DAC5600E}" dt="2026-08-19T05:03:10.528" v="1" actId="20577"/>
          <ac:spMkLst>
            <pc:docMk/>
            <pc:sldMk cId="0" sldId="256"/>
            <ac:spMk id="10" creationId="{D3CE181C-3EAF-1EC7-1771-8E173A37A5F1}"/>
          </ac:spMkLst>
        </pc:spChg>
      </pc:sldChg>
      <pc:sldChg chg="modSp mod">
        <pc:chgData name="Sri Hansika Saraf" userId="853678b18a0aa9d5" providerId="LiveId" clId="{D173137B-D079-4E81-8106-2102DAC5600E}" dt="2026-08-19T05:47:30.433" v="191" actId="1076"/>
        <pc:sldMkLst>
          <pc:docMk/>
          <pc:sldMk cId="0" sldId="259"/>
        </pc:sldMkLst>
        <pc:spChg chg="mod">
          <ac:chgData name="Sri Hansika Saraf" userId="853678b18a0aa9d5" providerId="LiveId" clId="{D173137B-D079-4E81-8106-2102DAC5600E}" dt="2026-08-19T05:47:30.433" v="191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ri Hansika Saraf" userId="853678b18a0aa9d5" providerId="LiveId" clId="{D173137B-D079-4E81-8106-2102DAC5600E}" dt="2026-08-19T05:47:21.588" v="190" actId="2711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Sri Hansika Saraf" userId="853678b18a0aa9d5" providerId="LiveId" clId="{D173137B-D079-4E81-8106-2102DAC5600E}" dt="2026-08-19T05:28:06.459" v="168" actId="14100"/>
        <pc:sldMkLst>
          <pc:docMk/>
          <pc:sldMk cId="0" sldId="262"/>
        </pc:sldMkLst>
        <pc:spChg chg="mod">
          <ac:chgData name="Sri Hansika Saraf" userId="853678b18a0aa9d5" providerId="LiveId" clId="{D173137B-D079-4E81-8106-2102DAC5600E}" dt="2026-08-19T05:28:06.459" v="168" actId="14100"/>
          <ac:spMkLst>
            <pc:docMk/>
            <pc:sldMk cId="0" sldId="262"/>
            <ac:spMk id="41" creationId="{CC06329E-36E8-0844-2942-D67F6BA3D881}"/>
          </ac:spMkLst>
        </pc:spChg>
      </pc:sldChg>
      <pc:sldChg chg="modSp mod">
        <pc:chgData name="Sri Hansika Saraf" userId="853678b18a0aa9d5" providerId="LiveId" clId="{D173137B-D079-4E81-8106-2102DAC5600E}" dt="2026-08-19T05:41:58.913" v="169" actId="20577"/>
        <pc:sldMkLst>
          <pc:docMk/>
          <pc:sldMk cId="0" sldId="264"/>
        </pc:sldMkLst>
        <pc:spChg chg="mod">
          <ac:chgData name="Sri Hansika Saraf" userId="853678b18a0aa9d5" providerId="LiveId" clId="{D173137B-D079-4E81-8106-2102DAC5600E}" dt="2026-08-19T05:18:54.423" v="97" actId="20577"/>
          <ac:spMkLst>
            <pc:docMk/>
            <pc:sldMk cId="0" sldId="264"/>
            <ac:spMk id="25" creationId="{D782242B-CB15-D316-678A-D5C4134067B0}"/>
          </ac:spMkLst>
        </pc:spChg>
        <pc:spChg chg="mod">
          <ac:chgData name="Sri Hansika Saraf" userId="853678b18a0aa9d5" providerId="LiveId" clId="{D173137B-D079-4E81-8106-2102DAC5600E}" dt="2026-08-19T05:41:58.913" v="169" actId="20577"/>
          <ac:spMkLst>
            <pc:docMk/>
            <pc:sldMk cId="0" sldId="264"/>
            <ac:spMk id="30" creationId="{7FDE7FC5-E2D8-E3C5-9E9A-8C8EB27EB2FF}"/>
          </ac:spMkLst>
        </pc:spChg>
        <pc:spChg chg="mod">
          <ac:chgData name="Sri Hansika Saraf" userId="853678b18a0aa9d5" providerId="LiveId" clId="{D173137B-D079-4E81-8106-2102DAC5600E}" dt="2026-08-19T05:21:40.500" v="160" actId="5793"/>
          <ac:spMkLst>
            <pc:docMk/>
            <pc:sldMk cId="0" sldId="264"/>
            <ac:spMk id="32" creationId="{1BE61534-90CE-48EC-F300-E116FCBFDDF3}"/>
          </ac:spMkLst>
        </pc:spChg>
        <pc:spChg chg="mod">
          <ac:chgData name="Sri Hansika Saraf" userId="853678b18a0aa9d5" providerId="LiveId" clId="{D173137B-D079-4E81-8106-2102DAC5600E}" dt="2026-08-19T05:22:03.454" v="163" actId="1076"/>
          <ac:spMkLst>
            <pc:docMk/>
            <pc:sldMk cId="0" sldId="264"/>
            <ac:spMk id="34" creationId="{E3ECE29D-1DD9-D2DD-FF68-3760B310D792}"/>
          </ac:spMkLst>
        </pc:spChg>
        <pc:grpChg chg="mod">
          <ac:chgData name="Sri Hansika Saraf" userId="853678b18a0aa9d5" providerId="LiveId" clId="{D173137B-D079-4E81-8106-2102DAC5600E}" dt="2026-08-19T05:21:59.067" v="162" actId="1076"/>
          <ac:grpSpMkLst>
            <pc:docMk/>
            <pc:sldMk cId="0" sldId="264"/>
            <ac:grpSpMk id="22" creationId="{767CBD2C-D798-D75B-64E1-49032E8BF64E}"/>
          </ac:grpSpMkLst>
        </pc:grpChg>
      </pc:sldChg>
      <pc:sldChg chg="addSp delSp modSp add mod">
        <pc:chgData name="Sri Hansika Saraf" userId="853678b18a0aa9d5" providerId="LiveId" clId="{D173137B-D079-4E81-8106-2102DAC5600E}" dt="2026-08-19T05:45:13.605" v="189" actId="403"/>
        <pc:sldMkLst>
          <pc:docMk/>
          <pc:sldMk cId="4145722207" sldId="270"/>
        </pc:sldMkLst>
        <pc:spChg chg="del mod">
          <ac:chgData name="Sri Hansika Saraf" userId="853678b18a0aa9d5" providerId="LiveId" clId="{D173137B-D079-4E81-8106-2102DAC5600E}" dt="2026-08-19T05:43:35.505" v="172" actId="478"/>
          <ac:spMkLst>
            <pc:docMk/>
            <pc:sldMk cId="4145722207" sldId="270"/>
            <ac:spMk id="5" creationId="{09F4D3EB-18EC-CC15-AAB1-A221DB6C38ED}"/>
          </ac:spMkLst>
        </pc:spChg>
        <pc:spChg chg="del">
          <ac:chgData name="Sri Hansika Saraf" userId="853678b18a0aa9d5" providerId="LiveId" clId="{D173137B-D079-4E81-8106-2102DAC5600E}" dt="2026-08-19T05:43:42.633" v="174" actId="478"/>
          <ac:spMkLst>
            <pc:docMk/>
            <pc:sldMk cId="4145722207" sldId="270"/>
            <ac:spMk id="8" creationId="{3668EDC7-3002-C43E-4C79-957B8C9C3D61}"/>
          </ac:spMkLst>
        </pc:spChg>
        <pc:spChg chg="del">
          <ac:chgData name="Sri Hansika Saraf" userId="853678b18a0aa9d5" providerId="LiveId" clId="{D173137B-D079-4E81-8106-2102DAC5600E}" dt="2026-08-19T05:43:45.441" v="175" actId="478"/>
          <ac:spMkLst>
            <pc:docMk/>
            <pc:sldMk cId="4145722207" sldId="270"/>
            <ac:spMk id="12" creationId="{F3D84CA9-73B4-FC32-7DBE-DB63ADE020BA}"/>
          </ac:spMkLst>
        </pc:spChg>
        <pc:spChg chg="del">
          <ac:chgData name="Sri Hansika Saraf" userId="853678b18a0aa9d5" providerId="LiveId" clId="{D173137B-D079-4E81-8106-2102DAC5600E}" dt="2026-08-19T05:43:38.392" v="173" actId="478"/>
          <ac:spMkLst>
            <pc:docMk/>
            <pc:sldMk cId="4145722207" sldId="270"/>
            <ac:spMk id="14" creationId="{0A2E0A97-B299-E016-F3A3-50BD24AEA210}"/>
          </ac:spMkLst>
        </pc:spChg>
        <pc:graphicFrameChg chg="add mod modGraphic">
          <ac:chgData name="Sri Hansika Saraf" userId="853678b18a0aa9d5" providerId="LiveId" clId="{D173137B-D079-4E81-8106-2102DAC5600E}" dt="2026-08-19T05:45:13.605" v="189" actId="403"/>
          <ac:graphicFrameMkLst>
            <pc:docMk/>
            <pc:sldMk cId="4145722207" sldId="270"/>
            <ac:graphicFrameMk id="2" creationId="{07E42618-AC19-FD2E-03EF-E96809AEA20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55531">
            <a:off x="13270474" y="4890075"/>
            <a:ext cx="7315200" cy="1582743"/>
          </a:xfrm>
          <a:custGeom>
            <a:avLst/>
            <a:gdLst/>
            <a:ahLst/>
            <a:cxnLst/>
            <a:rect l="l" t="t" r="r" b="b"/>
            <a:pathLst>
              <a:path w="7315200" h="1582743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34202" y="2307820"/>
            <a:ext cx="7315200" cy="1582743"/>
          </a:xfrm>
          <a:custGeom>
            <a:avLst/>
            <a:gdLst/>
            <a:ahLst/>
            <a:cxnLst/>
            <a:rect l="l" t="t" r="r" b="b"/>
            <a:pathLst>
              <a:path w="7315200" h="1582743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96145" y="1755047"/>
            <a:ext cx="11095709" cy="4898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4"/>
              </a:lnSpc>
            </a:pPr>
            <a:r>
              <a:rPr lang="en-US" sz="19317" dirty="0">
                <a:solidFill>
                  <a:srgbClr val="323232"/>
                </a:solidFill>
                <a:latin typeface="Cantora One"/>
                <a:ea typeface="Cantora One"/>
                <a:cs typeface="Cantora One"/>
                <a:sym typeface="Cantora One"/>
              </a:rPr>
              <a:t>EVENT</a:t>
            </a:r>
          </a:p>
          <a:p>
            <a:pPr algn="ctr">
              <a:lnSpc>
                <a:spcPts val="19124"/>
              </a:lnSpc>
            </a:pPr>
            <a:r>
              <a:rPr lang="en-US" sz="19317" dirty="0">
                <a:solidFill>
                  <a:srgbClr val="323232"/>
                </a:solidFill>
                <a:latin typeface="Cantora One"/>
                <a:ea typeface="Cantora One"/>
                <a:cs typeface="Cantora One"/>
                <a:sym typeface="Cantora One"/>
              </a:rPr>
              <a:t>CONNECT</a:t>
            </a:r>
          </a:p>
        </p:txBody>
      </p:sp>
      <p:sp>
        <p:nvSpPr>
          <p:cNvPr id="6" name="Freeform 6"/>
          <p:cNvSpPr/>
          <p:nvPr/>
        </p:nvSpPr>
        <p:spPr>
          <a:xfrm>
            <a:off x="-323225" y="6637430"/>
            <a:ext cx="4309782" cy="4114800"/>
          </a:xfrm>
          <a:custGeom>
            <a:avLst/>
            <a:gdLst/>
            <a:ahLst/>
            <a:cxnLst/>
            <a:rect l="l" t="t" r="r" b="b"/>
            <a:pathLst>
              <a:path w="4309782" h="4114800">
                <a:moveTo>
                  <a:pt x="0" y="0"/>
                </a:moveTo>
                <a:lnTo>
                  <a:pt x="4309783" y="0"/>
                </a:lnTo>
                <a:lnTo>
                  <a:pt x="43097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4449370" y="-190035"/>
            <a:ext cx="4552267" cy="4346314"/>
          </a:xfrm>
          <a:custGeom>
            <a:avLst/>
            <a:gdLst/>
            <a:ahLst/>
            <a:cxnLst/>
            <a:rect l="l" t="t" r="r" b="b"/>
            <a:pathLst>
              <a:path w="4552267" h="4346314">
                <a:moveTo>
                  <a:pt x="4552267" y="4346314"/>
                </a:moveTo>
                <a:lnTo>
                  <a:pt x="0" y="4346314"/>
                </a:lnTo>
                <a:lnTo>
                  <a:pt x="0" y="0"/>
                </a:lnTo>
                <a:lnTo>
                  <a:pt x="4552267" y="0"/>
                </a:lnTo>
                <a:lnTo>
                  <a:pt x="4552267" y="434631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616035" y="6637430"/>
            <a:ext cx="7401737" cy="78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5"/>
              </a:lnSpc>
            </a:pPr>
            <a:r>
              <a:rPr lang="en-US" sz="5944" dirty="0">
                <a:solidFill>
                  <a:srgbClr val="323232"/>
                </a:solidFill>
                <a:latin typeface="Cantora One"/>
                <a:ea typeface="Cantora One"/>
                <a:cs typeface="Cantora One"/>
                <a:sym typeface="Cantora One"/>
              </a:rPr>
              <a:t>Plan. Manage. Connect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D3CE181C-3EAF-1EC7-1771-8E173A37A5F1}"/>
              </a:ext>
            </a:extLst>
          </p:cNvPr>
          <p:cNvSpPr txBox="1"/>
          <p:nvPr/>
        </p:nvSpPr>
        <p:spPr>
          <a:xfrm>
            <a:off x="12573000" y="9335817"/>
            <a:ext cx="7401737" cy="141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5"/>
              </a:lnSpc>
            </a:pPr>
            <a:r>
              <a:rPr lang="en-US" sz="3000" dirty="0">
                <a:solidFill>
                  <a:srgbClr val="323232"/>
                </a:solidFill>
                <a:latin typeface="Cantora One"/>
                <a:ea typeface="Cantora One"/>
                <a:cs typeface="Cantora One"/>
                <a:sym typeface="Cantora One"/>
              </a:rPr>
              <a:t>Presented by: Group 10</a:t>
            </a:r>
            <a:br>
              <a:rPr lang="en-US" sz="3000" dirty="0">
                <a:solidFill>
                  <a:srgbClr val="323232"/>
                </a:solidFill>
                <a:latin typeface="Cantora One"/>
                <a:ea typeface="Cantora One"/>
                <a:cs typeface="Cantora One"/>
                <a:sym typeface="Cantora One"/>
              </a:rPr>
            </a:br>
            <a:endParaRPr lang="en-US" sz="3000" dirty="0">
              <a:solidFill>
                <a:srgbClr val="323232"/>
              </a:solidFill>
              <a:latin typeface="Cantora One"/>
              <a:ea typeface="Cantora One"/>
              <a:cs typeface="Cantora One"/>
              <a:sym typeface="Cantora One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A79F85B9-C008-7688-53C7-6613265C2BAC}"/>
              </a:ext>
            </a:extLst>
          </p:cNvPr>
          <p:cNvSpPr txBox="1"/>
          <p:nvPr/>
        </p:nvSpPr>
        <p:spPr>
          <a:xfrm>
            <a:off x="5443130" y="7608623"/>
            <a:ext cx="740173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3000" dirty="0">
                <a:solidFill>
                  <a:srgbClr val="323232"/>
                </a:solidFill>
                <a:latin typeface="Cantora One"/>
                <a:ea typeface="Cantora One"/>
                <a:cs typeface="Cantora One"/>
                <a:sym typeface="Cantora One"/>
              </a:rPr>
              <a:t>Under the guidance of </a:t>
            </a:r>
            <a:br>
              <a:rPr lang="en-US" sz="3000" dirty="0">
                <a:solidFill>
                  <a:srgbClr val="323232"/>
                </a:solidFill>
                <a:latin typeface="Cantora One"/>
                <a:ea typeface="Cantora One"/>
                <a:cs typeface="Cantora One"/>
                <a:sym typeface="Cantora One"/>
              </a:rPr>
            </a:br>
            <a:r>
              <a:rPr lang="en-US" sz="3000" dirty="0">
                <a:solidFill>
                  <a:srgbClr val="323232"/>
                </a:solidFill>
                <a:latin typeface="Cantora One"/>
                <a:ea typeface="Cantora One"/>
                <a:cs typeface="Cantora One"/>
                <a:sym typeface="Cantora One"/>
              </a:rPr>
              <a:t>G. Lavanya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01BA9925-5FB1-03AA-F135-B5617D5AD4AF}"/>
              </a:ext>
            </a:extLst>
          </p:cNvPr>
          <p:cNvSpPr txBox="1"/>
          <p:nvPr/>
        </p:nvSpPr>
        <p:spPr>
          <a:xfrm>
            <a:off x="5443129" y="951183"/>
            <a:ext cx="7401737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IN" sz="3200" dirty="0">
                <a:latin typeface="Cantora One" panose="020B0604020202020204" charset="0"/>
              </a:rPr>
              <a:t>Adaptive Software Engineering – 24CI3201</a:t>
            </a:r>
            <a:endParaRPr lang="en-US" sz="3000" dirty="0">
              <a:solidFill>
                <a:srgbClr val="323232"/>
              </a:solidFill>
              <a:latin typeface="Cantora One" panose="020B0604020202020204" charset="0"/>
              <a:ea typeface="Cantora One"/>
              <a:cs typeface="Cantora One"/>
              <a:sym typeface="Cantora On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7652D3-6898-FC93-E7D0-084F48675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1" y="10783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C035C-44A6-3679-657B-8B7D0EC2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B60E656-8D20-259F-FCBB-77E9EC5EC988}"/>
              </a:ext>
            </a:extLst>
          </p:cNvPr>
          <p:cNvSpPr/>
          <p:nvPr/>
        </p:nvSpPr>
        <p:spPr>
          <a:xfrm rot="-155531">
            <a:off x="13270474" y="4890075"/>
            <a:ext cx="7315200" cy="1582743"/>
          </a:xfrm>
          <a:custGeom>
            <a:avLst/>
            <a:gdLst/>
            <a:ahLst/>
            <a:cxnLst/>
            <a:rect l="l" t="t" r="r" b="b"/>
            <a:pathLst>
              <a:path w="7315200" h="1582743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EAF95CF-6748-59EA-9F31-94E6DBC23A06}"/>
              </a:ext>
            </a:extLst>
          </p:cNvPr>
          <p:cNvSpPr/>
          <p:nvPr/>
        </p:nvSpPr>
        <p:spPr>
          <a:xfrm>
            <a:off x="-1734202" y="2307820"/>
            <a:ext cx="7315200" cy="1582743"/>
          </a:xfrm>
          <a:custGeom>
            <a:avLst/>
            <a:gdLst/>
            <a:ahLst/>
            <a:cxnLst/>
            <a:rect l="l" t="t" r="r" b="b"/>
            <a:pathLst>
              <a:path w="7315200" h="1582743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EFB48BD-445F-E251-7E6C-5BD9282AACB4}"/>
              </a:ext>
            </a:extLst>
          </p:cNvPr>
          <p:cNvSpPr/>
          <p:nvPr/>
        </p:nvSpPr>
        <p:spPr>
          <a:xfrm>
            <a:off x="-323225" y="6637430"/>
            <a:ext cx="4309782" cy="4114800"/>
          </a:xfrm>
          <a:custGeom>
            <a:avLst/>
            <a:gdLst/>
            <a:ahLst/>
            <a:cxnLst/>
            <a:rect l="l" t="t" r="r" b="b"/>
            <a:pathLst>
              <a:path w="4309782" h="4114800">
                <a:moveTo>
                  <a:pt x="0" y="0"/>
                </a:moveTo>
                <a:lnTo>
                  <a:pt x="4309783" y="0"/>
                </a:lnTo>
                <a:lnTo>
                  <a:pt x="43097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00472D6-E12E-457C-A730-F89423DBCE3B}"/>
              </a:ext>
            </a:extLst>
          </p:cNvPr>
          <p:cNvSpPr/>
          <p:nvPr/>
        </p:nvSpPr>
        <p:spPr>
          <a:xfrm flipH="1" flipV="1">
            <a:off x="14449370" y="-190035"/>
            <a:ext cx="4552267" cy="4346314"/>
          </a:xfrm>
          <a:custGeom>
            <a:avLst/>
            <a:gdLst/>
            <a:ahLst/>
            <a:cxnLst/>
            <a:rect l="l" t="t" r="r" b="b"/>
            <a:pathLst>
              <a:path w="4552267" h="4346314">
                <a:moveTo>
                  <a:pt x="4552267" y="4346314"/>
                </a:moveTo>
                <a:lnTo>
                  <a:pt x="0" y="4346314"/>
                </a:lnTo>
                <a:lnTo>
                  <a:pt x="0" y="0"/>
                </a:lnTo>
                <a:lnTo>
                  <a:pt x="4552267" y="0"/>
                </a:lnTo>
                <a:lnTo>
                  <a:pt x="4552267" y="434631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8947BC14-CD77-0AF3-DD15-4F5B905D67F4}"/>
              </a:ext>
            </a:extLst>
          </p:cNvPr>
          <p:cNvSpPr txBox="1"/>
          <p:nvPr/>
        </p:nvSpPr>
        <p:spPr>
          <a:xfrm>
            <a:off x="12573000" y="9335817"/>
            <a:ext cx="7401737" cy="141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5"/>
              </a:lnSpc>
            </a:pPr>
            <a:r>
              <a:rPr lang="en-US" sz="3000" dirty="0">
                <a:solidFill>
                  <a:srgbClr val="323232"/>
                </a:solidFill>
                <a:latin typeface="Cantora One"/>
                <a:ea typeface="Cantora One"/>
                <a:cs typeface="Cantora One"/>
                <a:sym typeface="Cantora One"/>
              </a:rPr>
              <a:t>Presented by: Group 10</a:t>
            </a:r>
            <a:br>
              <a:rPr lang="en-US" sz="3000" dirty="0">
                <a:solidFill>
                  <a:srgbClr val="323232"/>
                </a:solidFill>
                <a:latin typeface="Cantora One"/>
                <a:ea typeface="Cantora One"/>
                <a:cs typeface="Cantora One"/>
                <a:sym typeface="Cantora One"/>
              </a:rPr>
            </a:br>
            <a:endParaRPr lang="en-US" sz="3000" dirty="0">
              <a:solidFill>
                <a:srgbClr val="323232"/>
              </a:solidFill>
              <a:latin typeface="Cantora One"/>
              <a:ea typeface="Cantora One"/>
              <a:cs typeface="Cantora One"/>
              <a:sym typeface="Cantora On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AAD7D5-C5E4-E0B9-43F1-4F0C5635C0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1" y="10783"/>
            <a:ext cx="2395447" cy="1200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E42618-AC19-FD2E-03EF-E96809AEA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850022"/>
              </p:ext>
            </p:extLst>
          </p:nvPr>
        </p:nvGraphicFramePr>
        <p:xfrm>
          <a:off x="3592367" y="2982890"/>
          <a:ext cx="9451023" cy="401904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69571">
                  <a:extLst>
                    <a:ext uri="{9D8B030D-6E8A-4147-A177-3AD203B41FA5}">
                      <a16:colId xmlns:a16="http://schemas.microsoft.com/office/drawing/2014/main" val="1262805490"/>
                    </a:ext>
                  </a:extLst>
                </a:gridCol>
                <a:gridCol w="2789292">
                  <a:extLst>
                    <a:ext uri="{9D8B030D-6E8A-4147-A177-3AD203B41FA5}">
                      <a16:colId xmlns:a16="http://schemas.microsoft.com/office/drawing/2014/main" val="1351665152"/>
                    </a:ext>
                  </a:extLst>
                </a:gridCol>
                <a:gridCol w="4492160">
                  <a:extLst>
                    <a:ext uri="{9D8B030D-6E8A-4147-A177-3AD203B41FA5}">
                      <a16:colId xmlns:a16="http://schemas.microsoft.com/office/drawing/2014/main" val="41572559"/>
                    </a:ext>
                  </a:extLst>
                </a:gridCol>
              </a:tblGrid>
              <a:tr h="801624">
                <a:tc>
                  <a:txBody>
                    <a:bodyPr/>
                    <a:lstStyle/>
                    <a:p>
                      <a:pPr marL="85725" marR="4381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 dirty="0">
                          <a:effectLst/>
                          <a:latin typeface="Nunito" pitchFamily="2" charset="0"/>
                        </a:rPr>
                        <a:t>S. No. </a:t>
                      </a:r>
                      <a:endParaRPr lang="en-IN" sz="2000" b="1" kern="100" dirty="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508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 dirty="0">
                          <a:effectLst/>
                          <a:latin typeface="Nunito" pitchFamily="2" charset="0"/>
                        </a:rPr>
                        <a:t>University ID </a:t>
                      </a:r>
                      <a:endParaRPr lang="en-IN" sz="2000" b="1" kern="100" dirty="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5143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 dirty="0">
                          <a:effectLst/>
                          <a:latin typeface="Nunito" pitchFamily="2" charset="0"/>
                        </a:rPr>
                        <a:t>Name </a:t>
                      </a:r>
                      <a:endParaRPr lang="en-IN" sz="2000" b="1" kern="100" dirty="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208180"/>
                  </a:ext>
                </a:extLst>
              </a:tr>
              <a:tr h="801624">
                <a:tc>
                  <a:txBody>
                    <a:bodyPr/>
                    <a:lstStyle/>
                    <a:p>
                      <a:pPr marL="85725" marR="4508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Nunito" pitchFamily="2" charset="0"/>
                        </a:rPr>
                        <a:t>1 </a:t>
                      </a:r>
                      <a:endParaRPr lang="en-IN" sz="2000" kern="10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tc>
                  <a:txBody>
                    <a:bodyPr/>
                    <a:lstStyle/>
                    <a:p>
                      <a:pPr marL="85725" marR="4508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Nunito" pitchFamily="2" charset="0"/>
                        </a:rPr>
                        <a:t>2420030173 </a:t>
                      </a:r>
                      <a:endParaRPr lang="en-IN" sz="2000" kern="10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tc>
                  <a:txBody>
                    <a:bodyPr/>
                    <a:lstStyle/>
                    <a:p>
                      <a:pPr marL="85725" marR="4889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Nunito" pitchFamily="2" charset="0"/>
                        </a:rPr>
                        <a:t>Raavi Jahnavi </a:t>
                      </a:r>
                      <a:endParaRPr lang="en-IN" sz="2000" kern="100" dirty="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extLst>
                  <a:ext uri="{0D108BD9-81ED-4DB2-BD59-A6C34878D82A}">
                    <a16:rowId xmlns:a16="http://schemas.microsoft.com/office/drawing/2014/main" val="2616859296"/>
                  </a:ext>
                </a:extLst>
              </a:tr>
              <a:tr h="801624">
                <a:tc>
                  <a:txBody>
                    <a:bodyPr/>
                    <a:lstStyle/>
                    <a:p>
                      <a:pPr marL="85725" marR="4508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Nunito" pitchFamily="2" charset="0"/>
                        </a:rPr>
                        <a:t>2 </a:t>
                      </a:r>
                      <a:endParaRPr lang="en-IN" sz="2000" kern="10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tc>
                  <a:txBody>
                    <a:bodyPr/>
                    <a:lstStyle/>
                    <a:p>
                      <a:pPr marL="85725" marR="4572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Nunito" pitchFamily="2" charset="0"/>
                        </a:rPr>
                        <a:t>2420030211 </a:t>
                      </a:r>
                      <a:endParaRPr lang="en-IN" sz="2000" kern="10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tc>
                  <a:txBody>
                    <a:bodyPr/>
                    <a:lstStyle/>
                    <a:p>
                      <a:pPr marL="85725" marR="4889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 err="1">
                          <a:effectLst/>
                          <a:latin typeface="Nunito" pitchFamily="2" charset="0"/>
                        </a:rPr>
                        <a:t>Maremanda</a:t>
                      </a:r>
                      <a:r>
                        <a:rPr lang="en-IN" sz="2400" kern="100" dirty="0">
                          <a:effectLst/>
                          <a:latin typeface="Nunito" pitchFamily="2" charset="0"/>
                        </a:rPr>
                        <a:t> Sai Kridhay Kumar </a:t>
                      </a:r>
                      <a:endParaRPr lang="en-IN" sz="2000" kern="100" dirty="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extLst>
                  <a:ext uri="{0D108BD9-81ED-4DB2-BD59-A6C34878D82A}">
                    <a16:rowId xmlns:a16="http://schemas.microsoft.com/office/drawing/2014/main" val="2480395729"/>
                  </a:ext>
                </a:extLst>
              </a:tr>
              <a:tr h="801624">
                <a:tc>
                  <a:txBody>
                    <a:bodyPr/>
                    <a:lstStyle/>
                    <a:p>
                      <a:pPr marL="85725" marR="4508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Nunito" pitchFamily="2" charset="0"/>
                        </a:rPr>
                        <a:t>3 </a:t>
                      </a:r>
                      <a:endParaRPr lang="en-IN" sz="2000" kern="10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tc>
                  <a:txBody>
                    <a:bodyPr/>
                    <a:lstStyle/>
                    <a:p>
                      <a:pPr marL="85725" marR="4508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Nunito" pitchFamily="2" charset="0"/>
                        </a:rPr>
                        <a:t>2420030556 </a:t>
                      </a:r>
                      <a:endParaRPr lang="en-IN" sz="2000" kern="10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tc>
                  <a:txBody>
                    <a:bodyPr/>
                    <a:lstStyle/>
                    <a:p>
                      <a:pPr marL="85725" marR="4508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Nunito" pitchFamily="2" charset="0"/>
                        </a:rPr>
                        <a:t>Sri Hansika Saraf</a:t>
                      </a:r>
                      <a:endParaRPr lang="en-IN" sz="2000" kern="100" dirty="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extLst>
                  <a:ext uri="{0D108BD9-81ED-4DB2-BD59-A6C34878D82A}">
                    <a16:rowId xmlns:a16="http://schemas.microsoft.com/office/drawing/2014/main" val="93671043"/>
                  </a:ext>
                </a:extLst>
              </a:tr>
              <a:tr h="801624">
                <a:tc>
                  <a:txBody>
                    <a:bodyPr/>
                    <a:lstStyle/>
                    <a:p>
                      <a:pPr marL="85725" marR="4508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Nunito" pitchFamily="2" charset="0"/>
                        </a:rPr>
                        <a:t>4 </a:t>
                      </a:r>
                      <a:endParaRPr lang="en-IN" sz="2000" kern="10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tc>
                  <a:txBody>
                    <a:bodyPr/>
                    <a:lstStyle/>
                    <a:p>
                      <a:pPr marL="85725" marR="4508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Nunito" pitchFamily="2" charset="0"/>
                        </a:rPr>
                        <a:t>2420030558 </a:t>
                      </a:r>
                      <a:endParaRPr lang="en-IN" sz="2000" kern="10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tc>
                  <a:txBody>
                    <a:bodyPr/>
                    <a:lstStyle/>
                    <a:p>
                      <a:pPr marL="85725" marR="5143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 err="1">
                          <a:effectLst/>
                          <a:latin typeface="Nunito" pitchFamily="2" charset="0"/>
                        </a:rPr>
                        <a:t>Bobbadhi</a:t>
                      </a:r>
                      <a:r>
                        <a:rPr lang="en-IN" sz="2400" kern="100" dirty="0">
                          <a:effectLst/>
                          <a:latin typeface="Nunito" pitchFamily="2" charset="0"/>
                        </a:rPr>
                        <a:t> Kundana Mani </a:t>
                      </a:r>
                      <a:endParaRPr lang="en-IN" sz="2000" kern="100" dirty="0">
                        <a:effectLst/>
                        <a:latin typeface="Nunito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75" marR="73025" marT="36195" marB="0"/>
                </a:tc>
                <a:extLst>
                  <a:ext uri="{0D108BD9-81ED-4DB2-BD59-A6C34878D82A}">
                    <a16:rowId xmlns:a16="http://schemas.microsoft.com/office/drawing/2014/main" val="3266527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722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6197" y="-2681076"/>
            <a:ext cx="12656633" cy="6607892"/>
            <a:chOff x="0" y="0"/>
            <a:chExt cx="3333434" cy="1740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33434" cy="1740350"/>
            </a:xfrm>
            <a:custGeom>
              <a:avLst/>
              <a:gdLst/>
              <a:ahLst/>
              <a:cxnLst/>
              <a:rect l="l" t="t" r="r" b="b"/>
              <a:pathLst>
                <a:path w="3333434" h="1740350">
                  <a:moveTo>
                    <a:pt x="31196" y="0"/>
                  </a:moveTo>
                  <a:lnTo>
                    <a:pt x="3302238" y="0"/>
                  </a:lnTo>
                  <a:cubicBezTo>
                    <a:pt x="3319467" y="0"/>
                    <a:pt x="3333434" y="13967"/>
                    <a:pt x="3333434" y="31196"/>
                  </a:cubicBezTo>
                  <a:lnTo>
                    <a:pt x="3333434" y="1709154"/>
                  </a:lnTo>
                  <a:cubicBezTo>
                    <a:pt x="3333434" y="1726383"/>
                    <a:pt x="3319467" y="1740350"/>
                    <a:pt x="3302238" y="1740350"/>
                  </a:cubicBezTo>
                  <a:lnTo>
                    <a:pt x="31196" y="1740350"/>
                  </a:lnTo>
                  <a:cubicBezTo>
                    <a:pt x="13967" y="1740350"/>
                    <a:pt x="0" y="1726383"/>
                    <a:pt x="0" y="1709154"/>
                  </a:cubicBezTo>
                  <a:lnTo>
                    <a:pt x="0" y="31196"/>
                  </a:lnTo>
                  <a:cubicBezTo>
                    <a:pt x="0" y="13967"/>
                    <a:pt x="13967" y="0"/>
                    <a:pt x="31196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33434" cy="178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051137" y="5415954"/>
            <a:ext cx="4774557" cy="4114800"/>
          </a:xfrm>
          <a:custGeom>
            <a:avLst/>
            <a:gdLst/>
            <a:ahLst/>
            <a:cxnLst/>
            <a:rect l="l" t="t" r="r" b="b"/>
            <a:pathLst>
              <a:path w="4774557" h="4114800">
                <a:moveTo>
                  <a:pt x="0" y="0"/>
                </a:moveTo>
                <a:lnTo>
                  <a:pt x="4774557" y="0"/>
                </a:lnTo>
                <a:lnTo>
                  <a:pt x="4774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04800" y="190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268333" y="1333500"/>
            <a:ext cx="5503929" cy="1063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7"/>
              </a:lnSpc>
              <a:spcBef>
                <a:spcPct val="0"/>
              </a:spcBef>
            </a:pPr>
            <a:r>
              <a:rPr lang="en-US" sz="6427" dirty="0">
                <a:solidFill>
                  <a:srgbClr val="FFFFFF"/>
                </a:solidFill>
                <a:latin typeface="Cantora One"/>
                <a:ea typeface="Cantora One"/>
                <a:cs typeface="Cantora One"/>
                <a:sym typeface="Cantora One"/>
              </a:rPr>
              <a:t>ABSTRACT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86197" y="4393895"/>
            <a:ext cx="12268203" cy="5116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 err="1">
                <a:latin typeface="Nunito" panose="020B0604020202020204" charset="0"/>
              </a:rPr>
              <a:t>EventConnect</a:t>
            </a:r>
            <a:r>
              <a:rPr lang="en-IN" sz="2800" b="1" dirty="0">
                <a:latin typeface="Nunito" panose="020B0604020202020204" charset="0"/>
              </a:rPr>
              <a:t> is a web-based event registration and booking system.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Nunito" panose="020B0604020202020204" charset="0"/>
              </a:rPr>
              <a:t>It provides a centralized platform for discovering and participating in events.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Nunito" panose="020B0604020202020204" charset="0"/>
              </a:rPr>
              <a:t>Users can search events, view details, book tickets, make payments and manage bookings.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Nunito" panose="020B0604020202020204" charset="0"/>
              </a:rPr>
              <a:t>Organizers can create and manage events and generate reports.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Nunito" panose="020B0604020202020204" charset="0"/>
              </a:rPr>
              <a:t>Administrators handle payment-related operations and refunds.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Nunito" panose="020B0604020202020204" charset="0"/>
              </a:rPr>
              <a:t>The system follows the Agile Scrum development approach.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E4A9B-1A81-C68E-46C6-31FEED1387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" y="-67868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29" y="2019300"/>
            <a:ext cx="18288000" cy="8686800"/>
            <a:chOff x="0" y="0"/>
            <a:chExt cx="4816593" cy="15669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18454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562600" y="190500"/>
            <a:ext cx="7943479" cy="1324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32"/>
              </a:lnSpc>
              <a:spcBef>
                <a:spcPct val="0"/>
              </a:spcBef>
            </a:pPr>
            <a:r>
              <a:rPr lang="en-US" sz="8023" dirty="0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EXISTING MODEL</a:t>
            </a:r>
          </a:p>
        </p:txBody>
      </p:sp>
      <p:sp>
        <p:nvSpPr>
          <p:cNvPr id="24" name="Freeform 24"/>
          <p:cNvSpPr/>
          <p:nvPr/>
        </p:nvSpPr>
        <p:spPr>
          <a:xfrm rot="-10800000">
            <a:off x="15390352" y="1813936"/>
            <a:ext cx="3329247" cy="4114800"/>
          </a:xfrm>
          <a:custGeom>
            <a:avLst/>
            <a:gdLst/>
            <a:ahLst/>
            <a:cxnLst/>
            <a:rect l="l" t="t" r="r" b="b"/>
            <a:pathLst>
              <a:path w="3329247" h="4114800">
                <a:moveTo>
                  <a:pt x="0" y="0"/>
                </a:moveTo>
                <a:lnTo>
                  <a:pt x="3329248" y="0"/>
                </a:lnTo>
                <a:lnTo>
                  <a:pt x="33292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10800000" flipH="1">
            <a:off x="-432012" y="1813936"/>
            <a:ext cx="3329247" cy="4114800"/>
          </a:xfrm>
          <a:custGeom>
            <a:avLst/>
            <a:gdLst/>
            <a:ahLst/>
            <a:cxnLst/>
            <a:rect l="l" t="t" r="r" b="b"/>
            <a:pathLst>
              <a:path w="3329247" h="4114800">
                <a:moveTo>
                  <a:pt x="3329247" y="0"/>
                </a:moveTo>
                <a:lnTo>
                  <a:pt x="0" y="0"/>
                </a:lnTo>
                <a:lnTo>
                  <a:pt x="0" y="4114800"/>
                </a:lnTo>
                <a:lnTo>
                  <a:pt x="3329247" y="4114800"/>
                </a:lnTo>
                <a:lnTo>
                  <a:pt x="3329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75D185C-4F37-57F9-7D93-87900161D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429049"/>
              </p:ext>
            </p:extLst>
          </p:nvPr>
        </p:nvGraphicFramePr>
        <p:xfrm>
          <a:off x="3048000" y="3086100"/>
          <a:ext cx="11811000" cy="6248397"/>
        </p:xfrm>
        <a:graphic>
          <a:graphicData uri="http://schemas.openxmlformats.org/drawingml/2006/table">
            <a:tbl>
              <a:tblPr/>
              <a:tblGrid>
                <a:gridCol w="5905500">
                  <a:extLst>
                    <a:ext uri="{9D8B030D-6E8A-4147-A177-3AD203B41FA5}">
                      <a16:colId xmlns:a16="http://schemas.microsoft.com/office/drawing/2014/main" val="3822162202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2244254870"/>
                    </a:ext>
                  </a:extLst>
                </a:gridCol>
              </a:tblGrid>
              <a:tr h="5812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Nunito" panose="020B0604020202020204" charset="0"/>
                        </a:rPr>
                        <a:t>Existing 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Nunito" panose="020B0604020202020204" charset="0"/>
                        </a:rPr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427486"/>
                  </a:ext>
                </a:extLst>
              </a:tr>
              <a:tr h="1017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Event information on different platforms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Users need to search across multiple 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504185"/>
                  </a:ext>
                </a:extLst>
              </a:tr>
              <a:tr h="1017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Separate registration and booking processes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User experience can be fragmented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700584"/>
                  </a:ext>
                </a:extLst>
              </a:tr>
              <a:tr h="1017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Limited booking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Difficult for users to manage all bookings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592724"/>
                  </a:ext>
                </a:extLst>
              </a:tr>
              <a:tr h="1017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Limited organizer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Event management can require multiple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521905"/>
                  </a:ext>
                </a:extLst>
              </a:tr>
              <a:tr h="58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Separate reports and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Difficult to get centralized insights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68885"/>
                  </a:ext>
                </a:extLst>
              </a:tr>
              <a:tr h="1017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Limited integration between 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2"/>
                          </a:solidFill>
                          <a:latin typeface="Nunito" panose="020B0604020202020204" charset="0"/>
                        </a:rPr>
                        <a:t>Registration, booking and payment may not be connected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9579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E127AAC-5304-3CBC-300D-09AFE3960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1" y="10783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5560" y="-1037069"/>
            <a:ext cx="9604981" cy="6607892"/>
            <a:chOff x="0" y="0"/>
            <a:chExt cx="2529707" cy="1740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015933"/>
            <a:ext cx="6634438" cy="3484031"/>
            <a:chOff x="0" y="0"/>
            <a:chExt cx="1747342" cy="9176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47342" cy="917605"/>
            </a:xfrm>
            <a:custGeom>
              <a:avLst/>
              <a:gdLst/>
              <a:ahLst/>
              <a:cxnLst/>
              <a:rect l="l" t="t" r="r" b="b"/>
              <a:pathLst>
                <a:path w="1747342" h="917605">
                  <a:moveTo>
                    <a:pt x="59513" y="0"/>
                  </a:moveTo>
                  <a:lnTo>
                    <a:pt x="1687828" y="0"/>
                  </a:lnTo>
                  <a:cubicBezTo>
                    <a:pt x="1703612" y="0"/>
                    <a:pt x="1718750" y="6270"/>
                    <a:pt x="1729911" y="17431"/>
                  </a:cubicBezTo>
                  <a:cubicBezTo>
                    <a:pt x="1741072" y="28592"/>
                    <a:pt x="1747342" y="43729"/>
                    <a:pt x="1747342" y="59513"/>
                  </a:cubicBezTo>
                  <a:lnTo>
                    <a:pt x="1747342" y="858092"/>
                  </a:lnTo>
                  <a:cubicBezTo>
                    <a:pt x="1747342" y="890960"/>
                    <a:pt x="1720697" y="917605"/>
                    <a:pt x="1687828" y="917605"/>
                  </a:cubicBezTo>
                  <a:lnTo>
                    <a:pt x="59513" y="917605"/>
                  </a:lnTo>
                  <a:cubicBezTo>
                    <a:pt x="43729" y="917605"/>
                    <a:pt x="28592" y="911335"/>
                    <a:pt x="17431" y="900174"/>
                  </a:cubicBezTo>
                  <a:cubicBezTo>
                    <a:pt x="6270" y="889013"/>
                    <a:pt x="0" y="873875"/>
                    <a:pt x="0" y="858092"/>
                  </a:cubicBezTo>
                  <a:lnTo>
                    <a:pt x="0" y="59513"/>
                  </a:lnTo>
                  <a:cubicBezTo>
                    <a:pt x="0" y="43729"/>
                    <a:pt x="6270" y="28592"/>
                    <a:pt x="17431" y="17431"/>
                  </a:cubicBezTo>
                  <a:cubicBezTo>
                    <a:pt x="28592" y="6270"/>
                    <a:pt x="43729" y="0"/>
                    <a:pt x="59513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47342" cy="965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4036615"/>
            <a:ext cx="9604981" cy="6607892"/>
            <a:chOff x="0" y="0"/>
            <a:chExt cx="2529707" cy="17403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829300"/>
            <a:ext cx="6896100" cy="4114800"/>
            <a:chOff x="0" y="0"/>
            <a:chExt cx="1747342" cy="758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7342" cy="758162"/>
            </a:xfrm>
            <a:custGeom>
              <a:avLst/>
              <a:gdLst/>
              <a:ahLst/>
              <a:cxnLst/>
              <a:rect l="l" t="t" r="r" b="b"/>
              <a:pathLst>
                <a:path w="1747342" h="758162">
                  <a:moveTo>
                    <a:pt x="59513" y="0"/>
                  </a:moveTo>
                  <a:lnTo>
                    <a:pt x="1687828" y="0"/>
                  </a:lnTo>
                  <a:cubicBezTo>
                    <a:pt x="1703612" y="0"/>
                    <a:pt x="1718750" y="6270"/>
                    <a:pt x="1729911" y="17431"/>
                  </a:cubicBezTo>
                  <a:cubicBezTo>
                    <a:pt x="1741072" y="28592"/>
                    <a:pt x="1747342" y="43729"/>
                    <a:pt x="1747342" y="59513"/>
                  </a:cubicBezTo>
                  <a:lnTo>
                    <a:pt x="1747342" y="698649"/>
                  </a:lnTo>
                  <a:cubicBezTo>
                    <a:pt x="1747342" y="731517"/>
                    <a:pt x="1720697" y="758162"/>
                    <a:pt x="1687828" y="758162"/>
                  </a:cubicBezTo>
                  <a:lnTo>
                    <a:pt x="59513" y="758162"/>
                  </a:lnTo>
                  <a:cubicBezTo>
                    <a:pt x="43729" y="758162"/>
                    <a:pt x="28592" y="751892"/>
                    <a:pt x="17431" y="740731"/>
                  </a:cubicBezTo>
                  <a:cubicBezTo>
                    <a:pt x="6270" y="729570"/>
                    <a:pt x="0" y="714433"/>
                    <a:pt x="0" y="698649"/>
                  </a:cubicBezTo>
                  <a:lnTo>
                    <a:pt x="0" y="59513"/>
                  </a:lnTo>
                  <a:cubicBezTo>
                    <a:pt x="0" y="43729"/>
                    <a:pt x="6270" y="28592"/>
                    <a:pt x="17431" y="17431"/>
                  </a:cubicBezTo>
                  <a:cubicBezTo>
                    <a:pt x="28592" y="6270"/>
                    <a:pt x="43729" y="0"/>
                    <a:pt x="59513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747342" cy="805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33400" y="537148"/>
            <a:ext cx="6948334" cy="1063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 dirty="0">
                <a:solidFill>
                  <a:srgbClr val="F8F0E6"/>
                </a:solidFill>
                <a:latin typeface="Cantora One"/>
                <a:ea typeface="Cantora One"/>
                <a:cs typeface="Cantora One"/>
                <a:sym typeface="Cantora One"/>
              </a:rPr>
              <a:t>PROPOSED MODEL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98021" y="2203111"/>
            <a:ext cx="5757456" cy="253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IN" sz="2800" b="1" dirty="0" err="1">
                <a:latin typeface="Nunito" panose="020B0604020202020204" charset="0"/>
              </a:rPr>
              <a:t>EventConnect</a:t>
            </a:r>
            <a:r>
              <a:rPr lang="en-IN" sz="2800" b="1" dirty="0">
                <a:latin typeface="Nunito" panose="020B0604020202020204" charset="0"/>
              </a:rPr>
              <a:t> provides a centralized platform that connects event discovery, registration, ticket booking, payments, and reporting.</a:t>
            </a:r>
            <a:endParaRPr lang="en-US" sz="2499" b="1" dirty="0">
              <a:solidFill>
                <a:srgbClr val="000000"/>
              </a:solidFill>
              <a:latin typeface="Nunito" panose="020B060402020202020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52471" y="6180833"/>
            <a:ext cx="6448557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>
                <a:latin typeface="Nunito" pitchFamily="2" charset="0"/>
              </a:rPr>
              <a:t>Key Features: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Nunito" pitchFamily="2" charset="0"/>
              </a:rPr>
              <a:t>User Registration &amp; Login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Nunito" pitchFamily="2" charset="0"/>
              </a:rPr>
              <a:t>Event Search &amp; Details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Nunito" pitchFamily="2" charset="0"/>
              </a:rPr>
              <a:t>Ticket Booking &amp; Cancellation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Nunito" pitchFamily="2" charset="0"/>
              </a:rPr>
              <a:t>Online Payment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Nunito" pitchFamily="2" charset="0"/>
              </a:rPr>
              <a:t>Booking Confirmation &amp; Ticket Download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Nunito" pitchFamily="2" charset="0"/>
              </a:rPr>
              <a:t>Attendee &amp; Revenue Reports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Nunito" pitchFamily="2" charset="0"/>
              </a:rPr>
              <a:t>Refund Management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D11471A-4848-B389-BB31-1985AB467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80" y="190500"/>
            <a:ext cx="6502400" cy="9753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7C5599-6BCF-794E-91BC-E3B330097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2553" y="-115457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">
            <a:extLst>
              <a:ext uri="{FF2B5EF4-FFF2-40B4-BE49-F238E27FC236}">
                <a16:creationId xmlns:a16="http://schemas.microsoft.com/office/drawing/2014/main" id="{AD805468-59D5-C18B-7991-CF5D88CA0DCE}"/>
              </a:ext>
            </a:extLst>
          </p:cNvPr>
          <p:cNvGrpSpPr/>
          <p:nvPr/>
        </p:nvGrpSpPr>
        <p:grpSpPr>
          <a:xfrm>
            <a:off x="2221463" y="5346276"/>
            <a:ext cx="7608338" cy="4940723"/>
            <a:chOff x="0" y="0"/>
            <a:chExt cx="2742848" cy="980217"/>
          </a:xfrm>
        </p:grpSpPr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38622382-C20C-0E9D-8C1F-F7F2BB0CB708}"/>
                </a:ext>
              </a:extLst>
            </p:cNvPr>
            <p:cNvSpPr/>
            <p:nvPr/>
          </p:nvSpPr>
          <p:spPr>
            <a:xfrm>
              <a:off x="0" y="0"/>
              <a:ext cx="2742848" cy="980217"/>
            </a:xfrm>
            <a:custGeom>
              <a:avLst/>
              <a:gdLst/>
              <a:ahLst/>
              <a:cxnLst/>
              <a:rect l="l" t="t" r="r" b="b"/>
              <a:pathLst>
                <a:path w="2742848" h="980217">
                  <a:moveTo>
                    <a:pt x="74340" y="0"/>
                  </a:moveTo>
                  <a:lnTo>
                    <a:pt x="2668508" y="0"/>
                  </a:lnTo>
                  <a:cubicBezTo>
                    <a:pt x="2688224" y="0"/>
                    <a:pt x="2707133" y="7832"/>
                    <a:pt x="2721074" y="21774"/>
                  </a:cubicBezTo>
                  <a:cubicBezTo>
                    <a:pt x="2735016" y="35715"/>
                    <a:pt x="2742848" y="54624"/>
                    <a:pt x="2742848" y="74340"/>
                  </a:cubicBezTo>
                  <a:lnTo>
                    <a:pt x="2742848" y="905877"/>
                  </a:lnTo>
                  <a:cubicBezTo>
                    <a:pt x="2742848" y="925593"/>
                    <a:pt x="2735016" y="944502"/>
                    <a:pt x="2721074" y="958443"/>
                  </a:cubicBezTo>
                  <a:cubicBezTo>
                    <a:pt x="2707133" y="972385"/>
                    <a:pt x="2688224" y="980217"/>
                    <a:pt x="2668508" y="980217"/>
                  </a:cubicBezTo>
                  <a:lnTo>
                    <a:pt x="74340" y="980217"/>
                  </a:lnTo>
                  <a:cubicBezTo>
                    <a:pt x="54624" y="980217"/>
                    <a:pt x="35715" y="972385"/>
                    <a:pt x="21774" y="958443"/>
                  </a:cubicBezTo>
                  <a:cubicBezTo>
                    <a:pt x="7832" y="944502"/>
                    <a:pt x="0" y="925593"/>
                    <a:pt x="0" y="905877"/>
                  </a:cubicBezTo>
                  <a:lnTo>
                    <a:pt x="0" y="74340"/>
                  </a:lnTo>
                  <a:cubicBezTo>
                    <a:pt x="0" y="54624"/>
                    <a:pt x="7832" y="35715"/>
                    <a:pt x="21774" y="21774"/>
                  </a:cubicBezTo>
                  <a:cubicBezTo>
                    <a:pt x="35715" y="7832"/>
                    <a:pt x="54624" y="0"/>
                    <a:pt x="7434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32" name="TextBox 4">
              <a:extLst>
                <a:ext uri="{FF2B5EF4-FFF2-40B4-BE49-F238E27FC236}">
                  <a16:creationId xmlns:a16="http://schemas.microsoft.com/office/drawing/2014/main" id="{E5EA4466-6894-2959-5DB8-26E604FDB3A0}"/>
                </a:ext>
              </a:extLst>
            </p:cNvPr>
            <p:cNvSpPr txBox="1"/>
            <p:nvPr/>
          </p:nvSpPr>
          <p:spPr>
            <a:xfrm>
              <a:off x="0" y="-47625"/>
              <a:ext cx="2742848" cy="1027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7" name="Group 2">
            <a:extLst>
              <a:ext uri="{FF2B5EF4-FFF2-40B4-BE49-F238E27FC236}">
                <a16:creationId xmlns:a16="http://schemas.microsoft.com/office/drawing/2014/main" id="{F7CF1428-AEA8-533C-A471-D306F8F72FF1}"/>
              </a:ext>
            </a:extLst>
          </p:cNvPr>
          <p:cNvGrpSpPr/>
          <p:nvPr/>
        </p:nvGrpSpPr>
        <p:grpSpPr>
          <a:xfrm>
            <a:off x="2191927" y="1218961"/>
            <a:ext cx="16781873" cy="3902588"/>
            <a:chOff x="-1871137" y="-47625"/>
            <a:chExt cx="4613985" cy="1228344"/>
          </a:xfrm>
        </p:grpSpPr>
        <p:sp>
          <p:nvSpPr>
            <p:cNvPr id="28" name="Freeform 3">
              <a:extLst>
                <a:ext uri="{FF2B5EF4-FFF2-40B4-BE49-F238E27FC236}">
                  <a16:creationId xmlns:a16="http://schemas.microsoft.com/office/drawing/2014/main" id="{ED9F81F1-B201-D3AF-5B46-919B6D929775}"/>
                </a:ext>
              </a:extLst>
            </p:cNvPr>
            <p:cNvSpPr/>
            <p:nvPr/>
          </p:nvSpPr>
          <p:spPr>
            <a:xfrm>
              <a:off x="-1871137" y="200502"/>
              <a:ext cx="1683565" cy="980217"/>
            </a:xfrm>
            <a:custGeom>
              <a:avLst/>
              <a:gdLst/>
              <a:ahLst/>
              <a:cxnLst/>
              <a:rect l="l" t="t" r="r" b="b"/>
              <a:pathLst>
                <a:path w="2742848" h="980217">
                  <a:moveTo>
                    <a:pt x="74340" y="0"/>
                  </a:moveTo>
                  <a:lnTo>
                    <a:pt x="2668508" y="0"/>
                  </a:lnTo>
                  <a:cubicBezTo>
                    <a:pt x="2688224" y="0"/>
                    <a:pt x="2707133" y="7832"/>
                    <a:pt x="2721074" y="21774"/>
                  </a:cubicBezTo>
                  <a:cubicBezTo>
                    <a:pt x="2735016" y="35715"/>
                    <a:pt x="2742848" y="54624"/>
                    <a:pt x="2742848" y="74340"/>
                  </a:cubicBezTo>
                  <a:lnTo>
                    <a:pt x="2742848" y="905877"/>
                  </a:lnTo>
                  <a:cubicBezTo>
                    <a:pt x="2742848" y="925593"/>
                    <a:pt x="2735016" y="944502"/>
                    <a:pt x="2721074" y="958443"/>
                  </a:cubicBezTo>
                  <a:cubicBezTo>
                    <a:pt x="2707133" y="972385"/>
                    <a:pt x="2688224" y="980217"/>
                    <a:pt x="2668508" y="980217"/>
                  </a:cubicBezTo>
                  <a:lnTo>
                    <a:pt x="74340" y="980217"/>
                  </a:lnTo>
                  <a:cubicBezTo>
                    <a:pt x="54624" y="980217"/>
                    <a:pt x="35715" y="972385"/>
                    <a:pt x="21774" y="958443"/>
                  </a:cubicBezTo>
                  <a:cubicBezTo>
                    <a:pt x="7832" y="944502"/>
                    <a:pt x="0" y="925593"/>
                    <a:pt x="0" y="905877"/>
                  </a:cubicBezTo>
                  <a:lnTo>
                    <a:pt x="0" y="74340"/>
                  </a:lnTo>
                  <a:cubicBezTo>
                    <a:pt x="0" y="54624"/>
                    <a:pt x="7832" y="35715"/>
                    <a:pt x="21774" y="21774"/>
                  </a:cubicBezTo>
                  <a:cubicBezTo>
                    <a:pt x="35715" y="7832"/>
                    <a:pt x="54624" y="0"/>
                    <a:pt x="74340" y="0"/>
                  </a:cubicBezTo>
                  <a:close/>
                </a:path>
              </a:pathLst>
            </a:custGeom>
            <a:solidFill>
              <a:srgbClr val="21575B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Box 4">
              <a:extLst>
                <a:ext uri="{FF2B5EF4-FFF2-40B4-BE49-F238E27FC236}">
                  <a16:creationId xmlns:a16="http://schemas.microsoft.com/office/drawing/2014/main" id="{B679670F-FEE5-9E9D-49EC-513DF4377B41}"/>
                </a:ext>
              </a:extLst>
            </p:cNvPr>
            <p:cNvSpPr txBox="1"/>
            <p:nvPr/>
          </p:nvSpPr>
          <p:spPr>
            <a:xfrm>
              <a:off x="0" y="-47625"/>
              <a:ext cx="2742848" cy="1027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534404" y="2808151"/>
            <a:ext cx="5237996" cy="2169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2"/>
                </a:solidFill>
                <a:latin typeface="Nunito" panose="020B0604020202020204" charset="0"/>
              </a:rPr>
              <a:t>The </a:t>
            </a:r>
            <a:r>
              <a:rPr lang="en-IN" sz="2400" dirty="0" err="1">
                <a:solidFill>
                  <a:schemeClr val="bg2"/>
                </a:solidFill>
                <a:latin typeface="Nunito" panose="020B0604020202020204" charset="0"/>
              </a:rPr>
              <a:t>EventConnect</a:t>
            </a:r>
            <a:r>
              <a:rPr lang="en-IN" sz="2400" dirty="0">
                <a:solidFill>
                  <a:schemeClr val="bg2"/>
                </a:solidFill>
                <a:latin typeface="Nunito" panose="020B0604020202020204" charset="0"/>
              </a:rPr>
              <a:t> system is developed by integrating its major modules into one complete event platform.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18075" y="2329970"/>
            <a:ext cx="6066136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800" b="1" dirty="0">
                <a:solidFill>
                  <a:schemeClr val="bg2"/>
                </a:solidFill>
                <a:latin typeface="Nunito" panose="020B0604020202020204" charset="0"/>
              </a:rPr>
              <a:t>System Development Methodology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794331"/>
            <a:ext cx="1190042" cy="917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8"/>
              </a:lnSpc>
              <a:spcBef>
                <a:spcPct val="0"/>
              </a:spcBef>
            </a:pPr>
            <a:r>
              <a:rPr lang="en-US" sz="5484" b="1">
                <a:solidFill>
                  <a:srgbClr val="184549"/>
                </a:solidFill>
                <a:latin typeface="Nunito Bold"/>
                <a:ea typeface="Nunito Bold"/>
                <a:cs typeface="Nunito Bold"/>
                <a:sym typeface="Nunito Bold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3573" y="5208870"/>
            <a:ext cx="1190042" cy="917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8"/>
              </a:lnSpc>
              <a:spcBef>
                <a:spcPct val="0"/>
              </a:spcBef>
            </a:pPr>
            <a:r>
              <a:rPr lang="en-US" sz="5484" b="1" dirty="0">
                <a:solidFill>
                  <a:srgbClr val="184549"/>
                </a:solidFill>
                <a:latin typeface="Nunito Bold"/>
                <a:ea typeface="Nunito Bold"/>
                <a:cs typeface="Nunito Bold"/>
                <a:sym typeface="Nunito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18075" y="5816545"/>
            <a:ext cx="7807026" cy="4470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2"/>
                </a:solidFill>
                <a:latin typeface="Nunito" panose="020B0604020202020204" charset="0"/>
              </a:rPr>
              <a:t>User Module</a:t>
            </a:r>
            <a:r>
              <a:rPr lang="en-IN" sz="2800" dirty="0">
                <a:solidFill>
                  <a:schemeClr val="bg2"/>
                </a:solidFill>
                <a:latin typeface="Nunito" panose="020B0604020202020204" charset="0"/>
              </a:rPr>
              <a:t> → Registration, login, profile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2"/>
                </a:solidFill>
                <a:latin typeface="Nunito" panose="020B0604020202020204" charset="0"/>
              </a:rPr>
              <a:t>Event Module</a:t>
            </a:r>
            <a:r>
              <a:rPr lang="en-IN" sz="2800" dirty="0">
                <a:solidFill>
                  <a:schemeClr val="bg2"/>
                </a:solidFill>
                <a:latin typeface="Nunito" panose="020B0604020202020204" charset="0"/>
              </a:rPr>
              <a:t> → Create, update, search events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2"/>
                </a:solidFill>
                <a:latin typeface="Nunito" panose="020B0604020202020204" charset="0"/>
              </a:rPr>
              <a:t>Ticket Module</a:t>
            </a:r>
            <a:r>
              <a:rPr lang="en-IN" sz="2800" dirty="0">
                <a:solidFill>
                  <a:schemeClr val="bg2"/>
                </a:solidFill>
                <a:latin typeface="Nunito" panose="020B0604020202020204" charset="0"/>
              </a:rPr>
              <a:t> → Booking, cancellation, tickets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2"/>
                </a:solidFill>
                <a:latin typeface="Nunito" panose="020B0604020202020204" charset="0"/>
              </a:rPr>
              <a:t>Payment &amp; Reports Module</a:t>
            </a:r>
            <a:r>
              <a:rPr lang="en-IN" sz="2800" dirty="0">
                <a:solidFill>
                  <a:schemeClr val="bg2"/>
                </a:solidFill>
                <a:latin typeface="Nunito" panose="020B0604020202020204" charset="0"/>
              </a:rPr>
              <a:t> → Payments, refunds, reports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56175" y="5445458"/>
            <a:ext cx="5718818" cy="443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499"/>
              </a:lnSpc>
              <a:spcBef>
                <a:spcPct val="0"/>
              </a:spcBef>
            </a:pPr>
            <a:r>
              <a:rPr lang="en-IN" sz="2800" b="1" dirty="0">
                <a:solidFill>
                  <a:schemeClr val="bg2"/>
                </a:solidFill>
                <a:latin typeface="Nunito" panose="020B0604020202020204" charset="0"/>
              </a:rPr>
              <a:t>Main Modules</a:t>
            </a:r>
            <a:endParaRPr lang="en-US" sz="2499" b="1" u="none" strike="noStrike" dirty="0">
              <a:solidFill>
                <a:schemeClr val="bg2"/>
              </a:solidFill>
              <a:latin typeface="Nunito" panose="020B0604020202020204" charset="0"/>
              <a:ea typeface="Nunito Bold"/>
              <a:cs typeface="Nunito Bold"/>
              <a:sym typeface="Nunito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867400" y="75374"/>
            <a:ext cx="7064856" cy="10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7"/>
              </a:lnSpc>
              <a:spcBef>
                <a:spcPct val="0"/>
              </a:spcBef>
            </a:pPr>
            <a:r>
              <a:rPr lang="en-US" sz="6427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73F37DF-AD5F-0D07-C795-3E9A40935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1" y="1169370"/>
            <a:ext cx="7608338" cy="90651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D8F9AF-939F-7438-C2D3-F2CE8FF9B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1" y="10783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895600" y="-1028700"/>
            <a:ext cx="11430000" cy="119634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2968473">
            <a:off x="12734296" y="2244611"/>
            <a:ext cx="7315200" cy="2258568"/>
          </a:xfrm>
          <a:custGeom>
            <a:avLst/>
            <a:gdLst/>
            <a:ahLst/>
            <a:cxnLst/>
            <a:rect l="l" t="t" r="r" b="b"/>
            <a:pathLst>
              <a:path w="7315200" h="2258568">
                <a:moveTo>
                  <a:pt x="0" y="0"/>
                </a:moveTo>
                <a:lnTo>
                  <a:pt x="7315200" y="0"/>
                </a:lnTo>
                <a:lnTo>
                  <a:pt x="7315200" y="2258568"/>
                </a:lnTo>
                <a:lnTo>
                  <a:pt x="0" y="2258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52273" y="3714468"/>
            <a:ext cx="6915747" cy="2273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7"/>
              </a:lnSpc>
              <a:spcBef>
                <a:spcPct val="0"/>
              </a:spcBef>
            </a:pPr>
            <a:r>
              <a:rPr lang="en-US" sz="6600" b="1" dirty="0">
                <a:solidFill>
                  <a:schemeClr val="bg2"/>
                </a:solidFill>
                <a:latin typeface="Nunito" panose="020B0604020202020204" charset="0"/>
                <a:ea typeface="Cantora One"/>
                <a:cs typeface="Cantora One"/>
                <a:sym typeface="Cantora One"/>
              </a:rPr>
              <a:t>USER MANAGEMENT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43278" y="3086100"/>
            <a:ext cx="5427145" cy="453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User Registration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User Login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Update Profile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Reset Password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View Booked Events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4EB5E02C-E93A-B9BD-D7BB-508575F5A1CA}"/>
              </a:ext>
            </a:extLst>
          </p:cNvPr>
          <p:cNvSpPr txBox="1"/>
          <p:nvPr/>
        </p:nvSpPr>
        <p:spPr>
          <a:xfrm>
            <a:off x="7620000" y="182800"/>
            <a:ext cx="6915747" cy="1063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7"/>
              </a:lnSpc>
              <a:spcBef>
                <a:spcPct val="0"/>
              </a:spcBef>
            </a:pPr>
            <a:r>
              <a:rPr lang="en-US" sz="6427" dirty="0">
                <a:latin typeface="Cantora One"/>
                <a:ea typeface="Cantora One"/>
                <a:cs typeface="Cantora One"/>
                <a:sym typeface="Cantora One"/>
              </a:rPr>
              <a:t>MODULES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E2EA6-8A77-E343-A795-B7C2E093E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0423" y="0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A64BA-A7FC-6D35-01EC-96C5F42A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D08FCD0-8C97-D0D0-1E25-AA34C900186B}"/>
              </a:ext>
            </a:extLst>
          </p:cNvPr>
          <p:cNvGrpSpPr/>
          <p:nvPr/>
        </p:nvGrpSpPr>
        <p:grpSpPr>
          <a:xfrm>
            <a:off x="-2895600" y="-1028700"/>
            <a:ext cx="11430000" cy="11963400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7EAE674-C13C-4E72-5CB9-011ED5144E1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0911022-79B3-EB0C-55F2-98869CA6DA0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C6F11576-83A7-FE2E-3A44-8633FFB7AACA}"/>
              </a:ext>
            </a:extLst>
          </p:cNvPr>
          <p:cNvSpPr/>
          <p:nvPr/>
        </p:nvSpPr>
        <p:spPr>
          <a:xfrm rot="2968473">
            <a:off x="12734296" y="2244611"/>
            <a:ext cx="7315200" cy="2258568"/>
          </a:xfrm>
          <a:custGeom>
            <a:avLst/>
            <a:gdLst/>
            <a:ahLst/>
            <a:cxnLst/>
            <a:rect l="l" t="t" r="r" b="b"/>
            <a:pathLst>
              <a:path w="7315200" h="2258568">
                <a:moveTo>
                  <a:pt x="0" y="0"/>
                </a:moveTo>
                <a:lnTo>
                  <a:pt x="7315200" y="0"/>
                </a:lnTo>
                <a:lnTo>
                  <a:pt x="7315200" y="2258568"/>
                </a:lnTo>
                <a:lnTo>
                  <a:pt x="0" y="2258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3C519E0-BE8C-651D-8346-BDC27A4BB048}"/>
              </a:ext>
            </a:extLst>
          </p:cNvPr>
          <p:cNvSpPr txBox="1"/>
          <p:nvPr/>
        </p:nvSpPr>
        <p:spPr>
          <a:xfrm>
            <a:off x="1352273" y="3714468"/>
            <a:ext cx="6915747" cy="2273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97"/>
              </a:lnSpc>
              <a:spcBef>
                <a:spcPct val="0"/>
              </a:spcBef>
            </a:pPr>
            <a:r>
              <a:rPr lang="en-IN" sz="6600" b="1" dirty="0">
                <a:solidFill>
                  <a:schemeClr val="bg2"/>
                </a:solidFill>
                <a:latin typeface="Nunito" panose="020B0604020202020204" charset="0"/>
              </a:rPr>
              <a:t>EVENT MANAGEMENT</a:t>
            </a:r>
            <a:endParaRPr lang="en-US" sz="6427" b="1" dirty="0">
              <a:solidFill>
                <a:schemeClr val="bg2"/>
              </a:solidFill>
              <a:latin typeface="Nunito" panose="020B0604020202020204" charset="0"/>
              <a:ea typeface="Cantora One"/>
              <a:cs typeface="Cantora One"/>
              <a:sym typeface="Cantora One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1192A9F-FDD0-D90F-F661-2BC8EB07A775}"/>
              </a:ext>
            </a:extLst>
          </p:cNvPr>
          <p:cNvSpPr txBox="1"/>
          <p:nvPr/>
        </p:nvSpPr>
        <p:spPr>
          <a:xfrm>
            <a:off x="10443278" y="3086100"/>
            <a:ext cx="5427145" cy="452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Create Event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Update Event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Delete Event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Search Events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View Event Details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ADFEDC68-2A14-7119-E147-EB3F5A224F3A}"/>
              </a:ext>
            </a:extLst>
          </p:cNvPr>
          <p:cNvSpPr txBox="1"/>
          <p:nvPr/>
        </p:nvSpPr>
        <p:spPr>
          <a:xfrm>
            <a:off x="7620000" y="182800"/>
            <a:ext cx="6915747" cy="1063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7"/>
              </a:lnSpc>
              <a:spcBef>
                <a:spcPct val="0"/>
              </a:spcBef>
            </a:pPr>
            <a:r>
              <a:rPr lang="en-US" sz="6427" dirty="0">
                <a:latin typeface="Cantora One"/>
                <a:ea typeface="Cantora One"/>
                <a:cs typeface="Cantora One"/>
                <a:sym typeface="Cantora One"/>
              </a:rPr>
              <a:t>MODULES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108FA9-3A6C-8F73-A6A8-EEBAF5452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0423" y="0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8666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504116-A33D-DF29-6C83-DFF0DDEE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118DD683-76CC-B0BB-C137-E5B289101F6D}"/>
              </a:ext>
            </a:extLst>
          </p:cNvPr>
          <p:cNvGrpSpPr/>
          <p:nvPr/>
        </p:nvGrpSpPr>
        <p:grpSpPr>
          <a:xfrm>
            <a:off x="-2895600" y="-1028700"/>
            <a:ext cx="11430000" cy="11963400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4EFB5C6-D09D-1851-CBC9-80B3D86DDC2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9765473-B71C-F8AC-A620-42283B5EEF6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385DE826-13CA-B36E-965C-87586DF83791}"/>
              </a:ext>
            </a:extLst>
          </p:cNvPr>
          <p:cNvSpPr/>
          <p:nvPr/>
        </p:nvSpPr>
        <p:spPr>
          <a:xfrm rot="2968473">
            <a:off x="12734296" y="2244611"/>
            <a:ext cx="7315200" cy="2258568"/>
          </a:xfrm>
          <a:custGeom>
            <a:avLst/>
            <a:gdLst/>
            <a:ahLst/>
            <a:cxnLst/>
            <a:rect l="l" t="t" r="r" b="b"/>
            <a:pathLst>
              <a:path w="7315200" h="2258568">
                <a:moveTo>
                  <a:pt x="0" y="0"/>
                </a:moveTo>
                <a:lnTo>
                  <a:pt x="7315200" y="0"/>
                </a:lnTo>
                <a:lnTo>
                  <a:pt x="7315200" y="2258568"/>
                </a:lnTo>
                <a:lnTo>
                  <a:pt x="0" y="2258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9D5992E-5039-A66E-4FCB-7D94033F4DB6}"/>
              </a:ext>
            </a:extLst>
          </p:cNvPr>
          <p:cNvSpPr txBox="1"/>
          <p:nvPr/>
        </p:nvSpPr>
        <p:spPr>
          <a:xfrm>
            <a:off x="2401248" y="3816150"/>
            <a:ext cx="6915747" cy="2273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97"/>
              </a:lnSpc>
              <a:spcBef>
                <a:spcPct val="0"/>
              </a:spcBef>
            </a:pPr>
            <a:r>
              <a:rPr lang="en-IN" sz="6600" b="1" dirty="0">
                <a:solidFill>
                  <a:schemeClr val="bg2"/>
                </a:solidFill>
                <a:latin typeface="Nunito" panose="020B0604020202020204" charset="0"/>
              </a:rPr>
              <a:t>TICKET </a:t>
            </a:r>
            <a:br>
              <a:rPr lang="en-IN" sz="6600" b="1" dirty="0">
                <a:solidFill>
                  <a:schemeClr val="bg2"/>
                </a:solidFill>
                <a:latin typeface="Nunito" panose="020B0604020202020204" charset="0"/>
              </a:rPr>
            </a:br>
            <a:r>
              <a:rPr lang="en-IN" sz="6600" b="1" dirty="0">
                <a:solidFill>
                  <a:schemeClr val="bg2"/>
                </a:solidFill>
                <a:latin typeface="Nunito" panose="020B0604020202020204" charset="0"/>
              </a:rPr>
              <a:t>BOOKING</a:t>
            </a:r>
            <a:endParaRPr lang="en-US" sz="6427" b="1" dirty="0">
              <a:solidFill>
                <a:schemeClr val="bg2"/>
              </a:solidFill>
              <a:latin typeface="Nunito" panose="020B0604020202020204" charset="0"/>
              <a:ea typeface="Cantora One"/>
              <a:cs typeface="Cantora One"/>
              <a:sym typeface="Cantora One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F3DFB21-5E08-6544-160B-F09CB17CC98E}"/>
              </a:ext>
            </a:extLst>
          </p:cNvPr>
          <p:cNvSpPr txBox="1"/>
          <p:nvPr/>
        </p:nvSpPr>
        <p:spPr>
          <a:xfrm>
            <a:off x="10443278" y="3086100"/>
            <a:ext cx="6244522" cy="4539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Book Ticket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Cancel Booking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Booking History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Download Ticket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Booking Confirmation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90F12895-09C4-469F-192B-446AD7E0C2DF}"/>
              </a:ext>
            </a:extLst>
          </p:cNvPr>
          <p:cNvSpPr txBox="1"/>
          <p:nvPr/>
        </p:nvSpPr>
        <p:spPr>
          <a:xfrm>
            <a:off x="7620000" y="182800"/>
            <a:ext cx="6915747" cy="1063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7"/>
              </a:lnSpc>
              <a:spcBef>
                <a:spcPct val="0"/>
              </a:spcBef>
            </a:pPr>
            <a:r>
              <a:rPr lang="en-US" sz="6427" dirty="0">
                <a:latin typeface="Cantora One"/>
                <a:ea typeface="Cantora One"/>
                <a:cs typeface="Cantora One"/>
                <a:sym typeface="Cantora One"/>
              </a:rPr>
              <a:t>MODULES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703045-1FC1-83B4-C346-76E08A0E5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0423" y="0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7709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EAB6A-5EEA-4968-5AEF-1F97A47CE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3FF5EEC-000D-84F3-E826-DB4A7DDDE11F}"/>
              </a:ext>
            </a:extLst>
          </p:cNvPr>
          <p:cNvGrpSpPr/>
          <p:nvPr/>
        </p:nvGrpSpPr>
        <p:grpSpPr>
          <a:xfrm>
            <a:off x="-2895600" y="-1028700"/>
            <a:ext cx="11430000" cy="11963400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B268D1C-8D3E-0B52-DF2B-7922AB8D6FD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43D5AE5-1118-C5CF-46EE-226C30819934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CC4D73EC-F3CB-F089-852D-927094A77302}"/>
              </a:ext>
            </a:extLst>
          </p:cNvPr>
          <p:cNvSpPr/>
          <p:nvPr/>
        </p:nvSpPr>
        <p:spPr>
          <a:xfrm rot="2968473">
            <a:off x="12734296" y="2244611"/>
            <a:ext cx="7315200" cy="2258568"/>
          </a:xfrm>
          <a:custGeom>
            <a:avLst/>
            <a:gdLst/>
            <a:ahLst/>
            <a:cxnLst/>
            <a:rect l="l" t="t" r="r" b="b"/>
            <a:pathLst>
              <a:path w="7315200" h="2258568">
                <a:moveTo>
                  <a:pt x="0" y="0"/>
                </a:moveTo>
                <a:lnTo>
                  <a:pt x="7315200" y="0"/>
                </a:lnTo>
                <a:lnTo>
                  <a:pt x="7315200" y="2258568"/>
                </a:lnTo>
                <a:lnTo>
                  <a:pt x="0" y="2258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093A400-80CA-C602-BB14-31321377B13F}"/>
              </a:ext>
            </a:extLst>
          </p:cNvPr>
          <p:cNvSpPr txBox="1"/>
          <p:nvPr/>
        </p:nvSpPr>
        <p:spPr>
          <a:xfrm>
            <a:off x="1697234" y="3816150"/>
            <a:ext cx="6915747" cy="2273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97"/>
              </a:lnSpc>
              <a:spcBef>
                <a:spcPct val="0"/>
              </a:spcBef>
            </a:pPr>
            <a:r>
              <a:rPr lang="en-IN" sz="6600" b="1" dirty="0">
                <a:solidFill>
                  <a:schemeClr val="bg2"/>
                </a:solidFill>
                <a:latin typeface="Nunito" panose="020B0604020202020204" charset="0"/>
              </a:rPr>
              <a:t>PAYMENTS &amp; REPORTS</a:t>
            </a:r>
            <a:endParaRPr lang="en-US" sz="6427" b="1" dirty="0">
              <a:solidFill>
                <a:schemeClr val="bg2"/>
              </a:solidFill>
              <a:latin typeface="Nunito" panose="020B0604020202020204" charset="0"/>
              <a:ea typeface="Cantora One"/>
              <a:cs typeface="Cantora One"/>
              <a:sym typeface="Cantora One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DBAE19D-D935-FE09-564B-4DAB8149E87F}"/>
              </a:ext>
            </a:extLst>
          </p:cNvPr>
          <p:cNvSpPr txBox="1"/>
          <p:nvPr/>
        </p:nvSpPr>
        <p:spPr>
          <a:xfrm>
            <a:off x="10443278" y="3086100"/>
            <a:ext cx="6915746" cy="4539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Make Payment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Payment History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Generate Attendee Reports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Generate Revenue Reports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Nunito" panose="020B0604020202020204" charset="0"/>
              </a:rPr>
              <a:t>Refund Management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8CB3215A-A4B6-9B95-10A4-3B0A1D45DEE5}"/>
              </a:ext>
            </a:extLst>
          </p:cNvPr>
          <p:cNvSpPr txBox="1"/>
          <p:nvPr/>
        </p:nvSpPr>
        <p:spPr>
          <a:xfrm>
            <a:off x="7620000" y="182800"/>
            <a:ext cx="6915747" cy="1063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7"/>
              </a:lnSpc>
              <a:spcBef>
                <a:spcPct val="0"/>
              </a:spcBef>
            </a:pPr>
            <a:r>
              <a:rPr lang="en-US" sz="6427" dirty="0">
                <a:latin typeface="Cantora One"/>
                <a:ea typeface="Cantora One"/>
                <a:cs typeface="Cantora One"/>
                <a:sym typeface="Cantora One"/>
              </a:rPr>
              <a:t>MODULES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405A2D-5336-5A44-6781-8B216B9E1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0423" y="0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2965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928736"/>
            <a:ext cx="18288000" cy="5949502"/>
            <a:chOff x="0" y="0"/>
            <a:chExt cx="4816593" cy="15669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927610" y="1028700"/>
            <a:ext cx="2213013" cy="3245752"/>
          </a:xfrm>
          <a:custGeom>
            <a:avLst/>
            <a:gdLst/>
            <a:ahLst/>
            <a:cxnLst/>
            <a:rect l="l" t="t" r="r" b="b"/>
            <a:pathLst>
              <a:path w="2213013" h="3245752">
                <a:moveTo>
                  <a:pt x="0" y="0"/>
                </a:moveTo>
                <a:lnTo>
                  <a:pt x="2213013" y="0"/>
                </a:lnTo>
                <a:lnTo>
                  <a:pt x="2213013" y="3245752"/>
                </a:lnTo>
                <a:lnTo>
                  <a:pt x="0" y="3245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17910" y="3857554"/>
            <a:ext cx="4793013" cy="540074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793114" y="3676728"/>
            <a:ext cx="3086100" cy="326692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967716" y="1511332"/>
            <a:ext cx="8352564" cy="1063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 dirty="0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DIFFERENT USERS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82191" y="4388244"/>
            <a:ext cx="2356021" cy="45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IN" sz="3200" b="1" dirty="0">
                <a:latin typeface="Nunito" panose="020B0604020202020204" charset="0"/>
              </a:rPr>
              <a:t>USER</a:t>
            </a:r>
            <a:endParaRPr lang="en-US" sz="2800" b="1" dirty="0">
              <a:solidFill>
                <a:srgbClr val="000000"/>
              </a:solidFill>
              <a:latin typeface="Nunito" panose="020B0604020202020204" charset="0"/>
              <a:ea typeface="Nunito Bold"/>
              <a:cs typeface="Nunito Bold"/>
              <a:sym typeface="Nunit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569699" y="4907787"/>
            <a:ext cx="4238206" cy="3811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Register and login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Search and view events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Book and cancel tickets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Make payments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View booking history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Download tickets</a:t>
            </a:r>
          </a:p>
        </p:txBody>
      </p:sp>
      <p:grpSp>
        <p:nvGrpSpPr>
          <p:cNvPr id="34" name="Group 6">
            <a:extLst>
              <a:ext uri="{FF2B5EF4-FFF2-40B4-BE49-F238E27FC236}">
                <a16:creationId xmlns:a16="http://schemas.microsoft.com/office/drawing/2014/main" id="{7FD05F55-B0A6-2CD8-BB2C-E904F3C45DF6}"/>
              </a:ext>
            </a:extLst>
          </p:cNvPr>
          <p:cNvGrpSpPr/>
          <p:nvPr/>
        </p:nvGrpSpPr>
        <p:grpSpPr>
          <a:xfrm>
            <a:off x="6831781" y="3857554"/>
            <a:ext cx="4793013" cy="5400746"/>
            <a:chOff x="0" y="0"/>
            <a:chExt cx="812800" cy="812800"/>
          </a:xfrm>
        </p:grpSpPr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8B293C13-6B27-29CD-5A5C-EBC7AA2761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36" name="TextBox 8">
              <a:extLst>
                <a:ext uri="{FF2B5EF4-FFF2-40B4-BE49-F238E27FC236}">
                  <a16:creationId xmlns:a16="http://schemas.microsoft.com/office/drawing/2014/main" id="{D7909FEF-5898-283C-926A-81CAFEFE9FD1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7" name="Group 6">
            <a:extLst>
              <a:ext uri="{FF2B5EF4-FFF2-40B4-BE49-F238E27FC236}">
                <a16:creationId xmlns:a16="http://schemas.microsoft.com/office/drawing/2014/main" id="{591A2CCF-678E-2293-58D7-11804426A892}"/>
              </a:ext>
            </a:extLst>
          </p:cNvPr>
          <p:cNvGrpSpPr/>
          <p:nvPr/>
        </p:nvGrpSpPr>
        <p:grpSpPr>
          <a:xfrm>
            <a:off x="12445652" y="3857554"/>
            <a:ext cx="4793013" cy="5400746"/>
            <a:chOff x="0" y="0"/>
            <a:chExt cx="812800" cy="812800"/>
          </a:xfrm>
        </p:grpSpPr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56562FB2-5695-174C-1472-BD513F96BC5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39" name="TextBox 8">
              <a:extLst>
                <a:ext uri="{FF2B5EF4-FFF2-40B4-BE49-F238E27FC236}">
                  <a16:creationId xmlns:a16="http://schemas.microsoft.com/office/drawing/2014/main" id="{FB23C941-EB6D-6EC4-AAF4-6C7A64AEC039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41" name="TextBox 23">
            <a:extLst>
              <a:ext uri="{FF2B5EF4-FFF2-40B4-BE49-F238E27FC236}">
                <a16:creationId xmlns:a16="http://schemas.microsoft.com/office/drawing/2014/main" id="{CC06329E-36E8-0844-2942-D67F6BA3D881}"/>
              </a:ext>
            </a:extLst>
          </p:cNvPr>
          <p:cNvSpPr txBox="1"/>
          <p:nvPr/>
        </p:nvSpPr>
        <p:spPr>
          <a:xfrm>
            <a:off x="7740128" y="4369927"/>
            <a:ext cx="2684047" cy="459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IN" sz="3200" b="1" dirty="0">
                <a:latin typeface="Nunito" panose="020B0604020202020204" charset="0"/>
              </a:rPr>
              <a:t>ORGANIZER</a:t>
            </a:r>
            <a:endParaRPr lang="en-US" sz="2800" b="1" dirty="0">
              <a:solidFill>
                <a:srgbClr val="000000"/>
              </a:solidFill>
              <a:latin typeface="Nunito" panose="020B0604020202020204" charset="0"/>
              <a:ea typeface="Nunito Bold"/>
              <a:cs typeface="Nunito Bold"/>
              <a:sym typeface="Nunito Bold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B6308382-0234-2FFE-D577-97F909D6E7AB}"/>
              </a:ext>
            </a:extLst>
          </p:cNvPr>
          <p:cNvSpPr txBox="1"/>
          <p:nvPr/>
        </p:nvSpPr>
        <p:spPr>
          <a:xfrm>
            <a:off x="6934200" y="4973101"/>
            <a:ext cx="4690590" cy="3824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Create events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Update events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Delete events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View bookings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Generate attendee reports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Generate revenue reports</a:t>
            </a:r>
          </a:p>
        </p:txBody>
      </p:sp>
      <p:sp>
        <p:nvSpPr>
          <p:cNvPr id="45" name="TextBox 23">
            <a:extLst>
              <a:ext uri="{FF2B5EF4-FFF2-40B4-BE49-F238E27FC236}">
                <a16:creationId xmlns:a16="http://schemas.microsoft.com/office/drawing/2014/main" id="{312EBCFD-E0CF-749A-AA4A-E9822A32598F}"/>
              </a:ext>
            </a:extLst>
          </p:cNvPr>
          <p:cNvSpPr txBox="1"/>
          <p:nvPr/>
        </p:nvSpPr>
        <p:spPr>
          <a:xfrm>
            <a:off x="13708268" y="4425523"/>
            <a:ext cx="2356021" cy="45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IN" sz="3200" b="1" dirty="0">
                <a:latin typeface="Nunito" panose="020B0604020202020204" charset="0"/>
              </a:rPr>
              <a:t>ADMIN</a:t>
            </a:r>
            <a:endParaRPr lang="en-US" sz="2800" b="1" dirty="0">
              <a:solidFill>
                <a:srgbClr val="000000"/>
              </a:solidFill>
              <a:latin typeface="Nunito" panose="020B0604020202020204" charset="0"/>
              <a:ea typeface="Nunito Bold"/>
              <a:cs typeface="Nunito Bold"/>
              <a:sym typeface="Nunito Bold"/>
            </a:endParaRPr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0D75BD3E-862C-53F3-2F17-CA0D79D16F43}"/>
              </a:ext>
            </a:extLst>
          </p:cNvPr>
          <p:cNvSpPr txBox="1"/>
          <p:nvPr/>
        </p:nvSpPr>
        <p:spPr>
          <a:xfrm>
            <a:off x="12840356" y="4973101"/>
            <a:ext cx="4091844" cy="3177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View payment information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Manage refunds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Nunito" panose="020B0604020202020204" charset="0"/>
              </a:rPr>
              <a:t>Handle administrative operations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CBDC25-10A6-B301-9C59-6954036DC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" y="-91298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0582" y="3155508"/>
            <a:ext cx="18288000" cy="5949502"/>
            <a:chOff x="0" y="0"/>
            <a:chExt cx="4816593" cy="15669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0" y="-1644202"/>
            <a:ext cx="5856173" cy="41148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5856173" y="0"/>
                </a:moveTo>
                <a:lnTo>
                  <a:pt x="0" y="0"/>
                </a:lnTo>
                <a:lnTo>
                  <a:pt x="0" y="4114800"/>
                </a:lnTo>
                <a:lnTo>
                  <a:pt x="5856173" y="4114800"/>
                </a:lnTo>
                <a:lnTo>
                  <a:pt x="58561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898019" y="1658449"/>
            <a:ext cx="4953000" cy="1283576"/>
            <a:chOff x="0" y="0"/>
            <a:chExt cx="1826686" cy="5923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26686" cy="592364"/>
            </a:xfrm>
            <a:custGeom>
              <a:avLst/>
              <a:gdLst/>
              <a:ahLst/>
              <a:cxnLst/>
              <a:rect l="l" t="t" r="r" b="b"/>
              <a:pathLst>
                <a:path w="1826686" h="592364">
                  <a:moveTo>
                    <a:pt x="56928" y="0"/>
                  </a:moveTo>
                  <a:lnTo>
                    <a:pt x="1769757" y="0"/>
                  </a:lnTo>
                  <a:cubicBezTo>
                    <a:pt x="1801198" y="0"/>
                    <a:pt x="1826686" y="25488"/>
                    <a:pt x="1826686" y="56928"/>
                  </a:cubicBezTo>
                  <a:lnTo>
                    <a:pt x="1826686" y="535435"/>
                  </a:lnTo>
                  <a:cubicBezTo>
                    <a:pt x="1826686" y="566876"/>
                    <a:pt x="1801198" y="592364"/>
                    <a:pt x="1769757" y="592364"/>
                  </a:cubicBezTo>
                  <a:lnTo>
                    <a:pt x="56928" y="592364"/>
                  </a:lnTo>
                  <a:cubicBezTo>
                    <a:pt x="25488" y="592364"/>
                    <a:pt x="0" y="566876"/>
                    <a:pt x="0" y="535435"/>
                  </a:cubicBezTo>
                  <a:lnTo>
                    <a:pt x="0" y="56928"/>
                  </a:lnTo>
                  <a:cubicBezTo>
                    <a:pt x="0" y="25488"/>
                    <a:pt x="25488" y="0"/>
                    <a:pt x="56928" y="0"/>
                  </a:cubicBezTo>
                  <a:close/>
                </a:path>
              </a:pathLst>
            </a:custGeom>
            <a:solidFill>
              <a:srgbClr val="18454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826686" cy="639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35488" y="3640141"/>
            <a:ext cx="7957852" cy="5202207"/>
            <a:chOff x="0" y="0"/>
            <a:chExt cx="2095895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95895" cy="812800"/>
            </a:xfrm>
            <a:custGeom>
              <a:avLst/>
              <a:gdLst/>
              <a:ahLst/>
              <a:cxnLst/>
              <a:rect l="l" t="t" r="r" b="b"/>
              <a:pathLst>
                <a:path w="2095895" h="812800">
                  <a:moveTo>
                    <a:pt x="49616" y="0"/>
                  </a:moveTo>
                  <a:lnTo>
                    <a:pt x="2046279" y="0"/>
                  </a:lnTo>
                  <a:cubicBezTo>
                    <a:pt x="2073681" y="0"/>
                    <a:pt x="2095895" y="22214"/>
                    <a:pt x="2095895" y="49616"/>
                  </a:cubicBezTo>
                  <a:lnTo>
                    <a:pt x="2095895" y="763184"/>
                  </a:lnTo>
                  <a:cubicBezTo>
                    <a:pt x="2095895" y="790586"/>
                    <a:pt x="2073681" y="812800"/>
                    <a:pt x="2046279" y="812800"/>
                  </a:cubicBezTo>
                  <a:lnTo>
                    <a:pt x="49616" y="812800"/>
                  </a:lnTo>
                  <a:cubicBezTo>
                    <a:pt x="22214" y="812800"/>
                    <a:pt x="0" y="790586"/>
                    <a:pt x="0" y="763184"/>
                  </a:cubicBezTo>
                  <a:lnTo>
                    <a:pt x="0" y="49616"/>
                  </a:lnTo>
                  <a:cubicBezTo>
                    <a:pt x="0" y="22214"/>
                    <a:pt x="22214" y="0"/>
                    <a:pt x="49616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09589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3490058" y="3432067"/>
            <a:ext cx="5856173" cy="41148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0" y="0"/>
                </a:moveTo>
                <a:lnTo>
                  <a:pt x="5856173" y="0"/>
                </a:lnTo>
                <a:lnTo>
                  <a:pt x="5856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243692" y="391217"/>
            <a:ext cx="7957852" cy="1063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7"/>
              </a:lnSpc>
              <a:spcBef>
                <a:spcPct val="0"/>
              </a:spcBef>
            </a:pPr>
            <a:r>
              <a:rPr lang="en-US" sz="6427" dirty="0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PROCESS MODEL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86400" y="3733257"/>
            <a:ext cx="7706939" cy="5109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Nunito" panose="020B0604020202020204" charset="0"/>
              </a:rPr>
              <a:t>Incremental development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Nunito" panose="020B0604020202020204" charset="0"/>
              </a:rPr>
              <a:t>Continuous testing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Nunito" panose="020B0604020202020204" charset="0"/>
              </a:rPr>
              <a:t>Regular feedback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Nunito" panose="020B0604020202020204" charset="0"/>
              </a:rPr>
              <a:t>Easy progress tracking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Nunito" panose="020B0604020202020204" charset="0"/>
              </a:rPr>
              <a:t>Better team collaboration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Nunito" panose="020B0604020202020204" charset="0"/>
              </a:rPr>
              <a:t>Features can be improved after each sprint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53400" y="2303467"/>
            <a:ext cx="5801763" cy="613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F8F0E6"/>
                </a:solidFill>
                <a:latin typeface="Nunito"/>
                <a:ea typeface="Nunito"/>
                <a:cs typeface="Nunito"/>
                <a:sym typeface="Nunito"/>
              </a:rPr>
              <a:t>AGILE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8E37ED-6D60-C5C9-1C32-65458745B0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0423" y="0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2488019" y="161552"/>
            <a:ext cx="5362891" cy="4114800"/>
          </a:xfrm>
          <a:custGeom>
            <a:avLst/>
            <a:gdLst/>
            <a:ahLst/>
            <a:cxnLst/>
            <a:rect l="l" t="t" r="r" b="b"/>
            <a:pathLst>
              <a:path w="5362891" h="4114800">
                <a:moveTo>
                  <a:pt x="0" y="0"/>
                </a:moveTo>
                <a:lnTo>
                  <a:pt x="5362891" y="0"/>
                </a:lnTo>
                <a:lnTo>
                  <a:pt x="53628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952531" y="316857"/>
            <a:ext cx="8890685" cy="1063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 dirty="0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TECHNICAL ASPECTS</a:t>
            </a:r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936BCF49-4CE7-2EF7-8E8D-AE4D82500F7D}"/>
              </a:ext>
            </a:extLst>
          </p:cNvPr>
          <p:cNvGrpSpPr/>
          <p:nvPr/>
        </p:nvGrpSpPr>
        <p:grpSpPr>
          <a:xfrm>
            <a:off x="2193873" y="1821449"/>
            <a:ext cx="6712584" cy="4114800"/>
            <a:chOff x="0" y="0"/>
            <a:chExt cx="2529707" cy="1740350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7A4B7BA6-FF7B-1CFA-4C07-C0B9320EB6F3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941AFCE5-C8F0-2EB3-75D8-E68D5443282D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8">
            <a:extLst>
              <a:ext uri="{FF2B5EF4-FFF2-40B4-BE49-F238E27FC236}">
                <a16:creationId xmlns:a16="http://schemas.microsoft.com/office/drawing/2014/main" id="{603902FE-A84D-6484-C863-F7D3AB758ABF}"/>
              </a:ext>
            </a:extLst>
          </p:cNvPr>
          <p:cNvGrpSpPr/>
          <p:nvPr/>
        </p:nvGrpSpPr>
        <p:grpSpPr>
          <a:xfrm>
            <a:off x="9381544" y="1783523"/>
            <a:ext cx="6712584" cy="4114800"/>
            <a:chOff x="0" y="0"/>
            <a:chExt cx="2529707" cy="1740350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FA792F33-B873-332A-18F1-DFB787E03859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1B02A933-2962-7E51-F0C8-57EF2638EA36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9" name="Group 8">
            <a:extLst>
              <a:ext uri="{FF2B5EF4-FFF2-40B4-BE49-F238E27FC236}">
                <a16:creationId xmlns:a16="http://schemas.microsoft.com/office/drawing/2014/main" id="{064959A0-DFB7-A990-5D46-E3FB4F851D45}"/>
              </a:ext>
            </a:extLst>
          </p:cNvPr>
          <p:cNvGrpSpPr/>
          <p:nvPr/>
        </p:nvGrpSpPr>
        <p:grpSpPr>
          <a:xfrm>
            <a:off x="2193873" y="6109009"/>
            <a:ext cx="6712584" cy="4114800"/>
            <a:chOff x="0" y="0"/>
            <a:chExt cx="2529707" cy="1740350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A50635F0-C15E-F7E5-6D71-3CE62515D6BD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21" name="TextBox 10">
              <a:extLst>
                <a:ext uri="{FF2B5EF4-FFF2-40B4-BE49-F238E27FC236}">
                  <a16:creationId xmlns:a16="http://schemas.microsoft.com/office/drawing/2014/main" id="{E36D9357-BE05-68EB-70CB-4062939C04DB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2" name="Group 8">
            <a:extLst>
              <a:ext uri="{FF2B5EF4-FFF2-40B4-BE49-F238E27FC236}">
                <a16:creationId xmlns:a16="http://schemas.microsoft.com/office/drawing/2014/main" id="{767CBD2C-D798-D75B-64E1-49032E8BF64E}"/>
              </a:ext>
            </a:extLst>
          </p:cNvPr>
          <p:cNvGrpSpPr/>
          <p:nvPr/>
        </p:nvGrpSpPr>
        <p:grpSpPr>
          <a:xfrm>
            <a:off x="9401563" y="6109009"/>
            <a:ext cx="6712584" cy="4114800"/>
            <a:chOff x="0" y="0"/>
            <a:chExt cx="2529707" cy="1740350"/>
          </a:xfrm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CE9C6374-4AC6-7365-FDED-1ECD748AF514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24" name="TextBox 10">
              <a:extLst>
                <a:ext uri="{FF2B5EF4-FFF2-40B4-BE49-F238E27FC236}">
                  <a16:creationId xmlns:a16="http://schemas.microsoft.com/office/drawing/2014/main" id="{4D88C557-68F7-6B91-A375-CE755C630297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782242B-CB15-D316-678A-D5C4134067B0}"/>
              </a:ext>
            </a:extLst>
          </p:cNvPr>
          <p:cNvSpPr txBox="1"/>
          <p:nvPr/>
        </p:nvSpPr>
        <p:spPr>
          <a:xfrm>
            <a:off x="3005275" y="2157045"/>
            <a:ext cx="5715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  <a:latin typeface="Nunito" panose="020B0604020202020204" charset="0"/>
              </a:rPr>
              <a:t>FRONTEND:</a:t>
            </a:r>
            <a:br>
              <a:rPr lang="en-IN" sz="3200" b="1" dirty="0">
                <a:solidFill>
                  <a:schemeClr val="bg2"/>
                </a:solidFill>
                <a:latin typeface="Nunito" panose="020B0604020202020204" charset="0"/>
              </a:rPr>
            </a:br>
            <a:endParaRPr lang="en-IN" sz="3200" b="1" dirty="0">
              <a:solidFill>
                <a:schemeClr val="bg2"/>
              </a:solidFill>
              <a:latin typeface="Nunito" panose="020B06040202020202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React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HTML/CSS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JavaScript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Rest APIs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Forms and Event Pages</a:t>
            </a:r>
          </a:p>
          <a:p>
            <a:endParaRPr lang="en-IN" sz="3200" dirty="0">
              <a:solidFill>
                <a:schemeClr val="bg2"/>
              </a:solidFill>
              <a:latin typeface="Nunito" panose="020B060402020202020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E7FC5-E2D8-E3C5-9E9A-8C8EB27EB2FF}"/>
              </a:ext>
            </a:extLst>
          </p:cNvPr>
          <p:cNvSpPr txBox="1"/>
          <p:nvPr/>
        </p:nvSpPr>
        <p:spPr>
          <a:xfrm>
            <a:off x="9644547" y="2052833"/>
            <a:ext cx="64495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  <a:latin typeface="Nunito" panose="020B0604020202020204" charset="0"/>
              </a:rPr>
              <a:t>BACKEND:</a:t>
            </a:r>
          </a:p>
          <a:p>
            <a:r>
              <a:rPr lang="en-IN" sz="3200" b="1" dirty="0">
                <a:solidFill>
                  <a:schemeClr val="bg2"/>
                </a:solidFill>
                <a:latin typeface="Nunito" panose="020B0604020202020204" charset="0"/>
              </a:rPr>
              <a:t>Java + Spring Boot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Object-Oriented Programming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Business Logic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User Management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Event Management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Booking &amp; Payment Processing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E61534-90CE-48EC-F300-E116FCBFDDF3}"/>
              </a:ext>
            </a:extLst>
          </p:cNvPr>
          <p:cNvSpPr txBox="1"/>
          <p:nvPr/>
        </p:nvSpPr>
        <p:spPr>
          <a:xfrm>
            <a:off x="2708029" y="6209116"/>
            <a:ext cx="64495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  <a:latin typeface="Nunito" panose="020B0604020202020204" charset="0"/>
              </a:rPr>
              <a:t>BACKEND: Spring Data JPA</a:t>
            </a:r>
          </a:p>
          <a:p>
            <a:r>
              <a:rPr lang="en-IN" sz="3200" b="1" dirty="0">
                <a:solidFill>
                  <a:schemeClr val="bg2"/>
                </a:solidFill>
                <a:latin typeface="Nunito" panose="020B0604020202020204" charset="0"/>
              </a:rPr>
              <a:t>MySQL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User Data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Event Data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Booking Records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Payment Records</a:t>
            </a:r>
          </a:p>
          <a:p>
            <a:pPr lvl="0"/>
            <a:endParaRPr lang="en-IN" sz="3200" dirty="0">
              <a:solidFill>
                <a:schemeClr val="bg2"/>
              </a:solidFill>
              <a:latin typeface="Nunito" panose="020B0604020202020204" charset="0"/>
            </a:endParaRPr>
          </a:p>
          <a:p>
            <a:pPr lvl="0"/>
            <a:r>
              <a:rPr lang="en-IN" sz="3200" b="1" dirty="0">
                <a:solidFill>
                  <a:schemeClr val="bg2"/>
                </a:solidFill>
                <a:latin typeface="Nunito" panose="020B0604020202020204" charset="0"/>
              </a:rPr>
              <a:t>POSTMAN-test and verify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ECE29D-1DD9-D2DD-FF68-3760B310D792}"/>
              </a:ext>
            </a:extLst>
          </p:cNvPr>
          <p:cNvSpPr txBox="1"/>
          <p:nvPr/>
        </p:nvSpPr>
        <p:spPr>
          <a:xfrm>
            <a:off x="9513044" y="6209116"/>
            <a:ext cx="671258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  <a:latin typeface="Nunito" pitchFamily="2" charset="0"/>
              </a:rPr>
              <a:t>Docker &amp; Kubernetes: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itchFamily="2" charset="0"/>
              </a:rPr>
              <a:t>Docker containerizes the application and its dependencies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itchFamily="2" charset="0"/>
              </a:rPr>
              <a:t>Kubernetes manages and deploys containers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itchFamily="2" charset="0"/>
              </a:rPr>
              <a:t>Supports scalability and reliable application availability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2"/>
                </a:solidFill>
                <a:latin typeface="Nunito" pitchFamily="2" charset="0"/>
              </a:rPr>
              <a:t>GIT-HUB</a:t>
            </a:r>
          </a:p>
          <a:p>
            <a:endParaRPr lang="en-IN" sz="3200" dirty="0">
              <a:solidFill>
                <a:schemeClr val="bg2"/>
              </a:solidFill>
            </a:endParaRPr>
          </a:p>
          <a:p>
            <a:endParaRPr lang="en-IN" sz="3200" b="1" dirty="0">
              <a:solidFill>
                <a:schemeClr val="bg2"/>
              </a:solidFill>
              <a:latin typeface="Nunito" panose="020B0604020202020204" charset="0"/>
            </a:endParaRPr>
          </a:p>
          <a:p>
            <a:endParaRPr lang="en-IN" sz="3200" dirty="0">
              <a:solidFill>
                <a:schemeClr val="bg2"/>
              </a:solidFill>
              <a:latin typeface="Nunito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98478-6287-6EA5-3CF8-EE3A660C1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" y="0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6F195-7C9F-9A53-FBE7-6FCC636E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6541AF-E074-E952-972B-669F6427F039}"/>
              </a:ext>
            </a:extLst>
          </p:cNvPr>
          <p:cNvGrpSpPr/>
          <p:nvPr/>
        </p:nvGrpSpPr>
        <p:grpSpPr>
          <a:xfrm>
            <a:off x="0" y="2610282"/>
            <a:ext cx="18288000" cy="5949502"/>
            <a:chOff x="0" y="0"/>
            <a:chExt cx="4816593" cy="156694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3FD97D7-C76E-A6C8-8BC3-F4777F5BE422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1FD3D70-30E5-C5D0-E55F-99C09A49EFE1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E3452DD-62D3-B87E-8656-2CD9A0A87B14}"/>
              </a:ext>
            </a:extLst>
          </p:cNvPr>
          <p:cNvSpPr/>
          <p:nvPr/>
        </p:nvSpPr>
        <p:spPr>
          <a:xfrm flipH="1">
            <a:off x="0" y="-1644202"/>
            <a:ext cx="5856173" cy="41148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5856173" y="0"/>
                </a:moveTo>
                <a:lnTo>
                  <a:pt x="0" y="0"/>
                </a:lnTo>
                <a:lnTo>
                  <a:pt x="0" y="4114800"/>
                </a:lnTo>
                <a:lnTo>
                  <a:pt x="5856173" y="4114800"/>
                </a:lnTo>
                <a:lnTo>
                  <a:pt x="58561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5F5FAAA-32A0-0393-6C39-0413FDDA9E1C}"/>
              </a:ext>
            </a:extLst>
          </p:cNvPr>
          <p:cNvSpPr/>
          <p:nvPr/>
        </p:nvSpPr>
        <p:spPr>
          <a:xfrm>
            <a:off x="13639800" y="4188719"/>
            <a:ext cx="5856173" cy="41148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0" y="0"/>
                </a:moveTo>
                <a:lnTo>
                  <a:pt x="5856173" y="0"/>
                </a:lnTo>
                <a:lnTo>
                  <a:pt x="5856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42CBE5D-4FD7-6472-F037-826214F1957E}"/>
              </a:ext>
            </a:extLst>
          </p:cNvPr>
          <p:cNvSpPr txBox="1"/>
          <p:nvPr/>
        </p:nvSpPr>
        <p:spPr>
          <a:xfrm>
            <a:off x="6243692" y="391217"/>
            <a:ext cx="7957852" cy="1063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7"/>
              </a:lnSpc>
              <a:spcBef>
                <a:spcPct val="0"/>
              </a:spcBef>
            </a:pPr>
            <a:r>
              <a:rPr lang="en-US" sz="6427" dirty="0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CONCLUSION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FCC174B-4D31-5A28-03DC-3F2D689311F3}"/>
              </a:ext>
            </a:extLst>
          </p:cNvPr>
          <p:cNvSpPr txBox="1"/>
          <p:nvPr/>
        </p:nvSpPr>
        <p:spPr>
          <a:xfrm>
            <a:off x="1615207" y="3309406"/>
            <a:ext cx="15057581" cy="4370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solidFill>
                  <a:schemeClr val="bg2"/>
                </a:solidFill>
                <a:latin typeface="Nunito" panose="020B0604020202020204" charset="0"/>
              </a:rPr>
              <a:t>EventConnect</a:t>
            </a: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 provides a centralized event registration and booking platform.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It integrates event discovery, ticket booking, payments and reporting.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It provides different functionalities for users, organizers and administrators.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The modular structure makes the system easier to develop and maintain.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2"/>
                </a:solidFill>
                <a:latin typeface="Nunito" panose="020B0604020202020204" charset="0"/>
              </a:rPr>
              <a:t>Agile Scrum enables incremental development, continuous testing and improvement.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F12773-2BB6-F750-4940-182991498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6220" y="0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7775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35177" y="1127342"/>
            <a:ext cx="5362891" cy="4114800"/>
          </a:xfrm>
          <a:custGeom>
            <a:avLst/>
            <a:gdLst/>
            <a:ahLst/>
            <a:cxnLst/>
            <a:rect l="l" t="t" r="r" b="b"/>
            <a:pathLst>
              <a:path w="5362891" h="4114800">
                <a:moveTo>
                  <a:pt x="0" y="0"/>
                </a:moveTo>
                <a:lnTo>
                  <a:pt x="5362891" y="0"/>
                </a:lnTo>
                <a:lnTo>
                  <a:pt x="53628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12894" y="4369628"/>
            <a:ext cx="3329247" cy="4114800"/>
          </a:xfrm>
          <a:custGeom>
            <a:avLst/>
            <a:gdLst/>
            <a:ahLst/>
            <a:cxnLst/>
            <a:rect l="l" t="t" r="r" b="b"/>
            <a:pathLst>
              <a:path w="3329247" h="4114800">
                <a:moveTo>
                  <a:pt x="0" y="0"/>
                </a:moveTo>
                <a:lnTo>
                  <a:pt x="3329247" y="0"/>
                </a:lnTo>
                <a:lnTo>
                  <a:pt x="332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16660" y="3184742"/>
            <a:ext cx="8454679" cy="414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17"/>
              </a:lnSpc>
            </a:pPr>
            <a:r>
              <a:rPr lang="en-US" sz="15551" dirty="0">
                <a:solidFill>
                  <a:srgbClr val="184549"/>
                </a:solidFill>
                <a:latin typeface="Cantora One"/>
                <a:ea typeface="Cantora One"/>
                <a:cs typeface="Cantora One"/>
                <a:sym typeface="Cantora One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 flipV="1">
            <a:off x="-340864" y="-190035"/>
            <a:ext cx="4309782" cy="4114800"/>
          </a:xfrm>
          <a:custGeom>
            <a:avLst/>
            <a:gdLst/>
            <a:ahLst/>
            <a:cxnLst/>
            <a:rect l="l" t="t" r="r" b="b"/>
            <a:pathLst>
              <a:path w="4309782" h="4114800">
                <a:moveTo>
                  <a:pt x="0" y="4114800"/>
                </a:moveTo>
                <a:lnTo>
                  <a:pt x="4309782" y="4114800"/>
                </a:lnTo>
                <a:lnTo>
                  <a:pt x="43097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290614" y="6096648"/>
            <a:ext cx="4552267" cy="4346314"/>
          </a:xfrm>
          <a:custGeom>
            <a:avLst/>
            <a:gdLst/>
            <a:ahLst/>
            <a:cxnLst/>
            <a:rect l="l" t="t" r="r" b="b"/>
            <a:pathLst>
              <a:path w="4552267" h="4346314">
                <a:moveTo>
                  <a:pt x="4552266" y="0"/>
                </a:moveTo>
                <a:lnTo>
                  <a:pt x="0" y="0"/>
                </a:lnTo>
                <a:lnTo>
                  <a:pt x="0" y="4346314"/>
                </a:lnTo>
                <a:lnTo>
                  <a:pt x="4552266" y="4346314"/>
                </a:lnTo>
                <a:lnTo>
                  <a:pt x="45522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A5FBFC-896C-00B0-15B3-FB34553EC3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" y="0"/>
            <a:ext cx="2395447" cy="1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560</Words>
  <Application>Microsoft Office PowerPoint</Application>
  <PresentationFormat>Custom</PresentationFormat>
  <Paragraphs>154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Nunito</vt:lpstr>
      <vt:lpstr>Arial</vt:lpstr>
      <vt:lpstr>Nunito Bold</vt:lpstr>
      <vt:lpstr>Calibri</vt:lpstr>
      <vt:lpstr>Cantora One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Black Vintage Group Project Presentation</dc:title>
  <dc:creator>Kundana Mani</dc:creator>
  <cp:lastModifiedBy>Sri Hansika Saraf</cp:lastModifiedBy>
  <cp:revision>4</cp:revision>
  <dcterms:created xsi:type="dcterms:W3CDTF">2006-08-16T00:00:00Z</dcterms:created>
  <dcterms:modified xsi:type="dcterms:W3CDTF">2026-08-19T05:47:30Z</dcterms:modified>
  <dc:identifier>DAHSMAn_7b8</dc:identifier>
</cp:coreProperties>
</file>